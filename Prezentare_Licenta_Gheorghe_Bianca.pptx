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-1280160"/>
            <a:ext cx="5943600" cy="3343275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11680" y="2377440"/>
            <a:ext cx="5029200" cy="2828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896C4"/>
                </a:solidFill>
                <a:latin typeface="Calibri"/>
              </a:rPr>
              <a:t>UNIVERSITATEA POLITEHNICA BUCUREȘTI · FACULTATEA AUTOMATICĂ ȘI CALCULATOARE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6F3FB"/>
                </a:solidFill>
                <a:latin typeface="Calibri"/>
              </a:rPr>
              <a:t>LUCRARE DE DIPLOMĂ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7863840" cy="13716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Detectarea mesajelor generate de AI pe rețelele sociale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" y="3246120"/>
            <a:ext cx="640080" cy="45720"/>
          </a:xfrm>
          <a:prstGeom prst="rect">
            <a:avLst/>
          </a:prstGeom>
          <a:solidFill>
            <a:srgbClr val="AE7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896C4"/>
                </a:solidFill>
                <a:latin typeface="Calibri"/>
              </a:rPr>
              <a:t>Absolvent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Bianca-Ștefania GHEORGHE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896C4"/>
                </a:solidFill>
                <a:latin typeface="Calibri"/>
              </a:rPr>
              <a:t>Coordonator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Conf.dr.ing. Daniel-Marian MEREZEANU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44805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6F3FB"/>
                </a:solidFill>
                <a:latin typeface="Calibri"/>
              </a:rPr>
              <a:t>Sesiunea Iunie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-914400"/>
            <a:ext cx="3017520" cy="16973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6F3FB"/>
                </a:solidFill>
                <a:latin typeface="Calibri"/>
              </a:rPr>
              <a:t>TEMA LUCRĂRII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Context și stadiul actual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33271"/>
            <a:ext cx="777240" cy="41148"/>
          </a:xfrm>
          <a:prstGeom prst="rect">
            <a:avLst/>
          </a:prstGeom>
          <a:solidFill>
            <a:srgbClr val="76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A896C4"/>
                </a:solidFill>
                <a:latin typeface="Calibri"/>
              </a:rPr>
              <a:t>Detectarea mesajelor generate de AI pe rețelele sociale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896C4"/>
                </a:solidFill>
                <a:latin typeface="Calibri"/>
              </a:rPr>
              <a:t>2/11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4114800" cy="3429000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34440"/>
            <a:ext cx="64008" cy="3429000"/>
          </a:xfrm>
          <a:prstGeom prst="rect">
            <a:avLst/>
          </a:prstGeom>
          <a:solidFill>
            <a:srgbClr val="AE7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E77D6"/>
                </a:solidFill>
                <a:latin typeface="Calibri"/>
              </a:rPr>
              <a:t>Problema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3794760" cy="2834640"/>
          </a:xfrm>
          <a:prstGeom prst="rect">
            <a:avLst/>
          </a:prstGeom>
          <a:noFill/>
        </p:spPr>
        <p:txBody>
          <a:bodyPr wrap="square" lIns="0" rIns="0" tIns="254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00">
                <a:solidFill>
                  <a:srgbClr val="76F3FB"/>
                </a:solidFill>
                <a:latin typeface="Calibri"/>
              </a:rPr>
              <a:t>● </a:t>
            </a:r>
            <a:r>
              <a:rPr sz="1200">
                <a:solidFill>
                  <a:srgbClr val="E6DCF5"/>
                </a:solidFill>
                <a:latin typeface="Calibri"/>
              </a:rPr>
              <a:t>Modelele LLM (ChatGPT, GPT-4, Gemini) generează texte aproape indistinguibile de cele scrise de oameni [2].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00">
                <a:solidFill>
                  <a:srgbClr val="76F3FB"/>
                </a:solidFill>
                <a:latin typeface="Calibri"/>
              </a:rPr>
              <a:t>● </a:t>
            </a:r>
            <a:r>
              <a:rPr sz="1200">
                <a:solidFill>
                  <a:srgbClr val="E6DCF5"/>
                </a:solidFill>
                <a:latin typeface="Calibri"/>
              </a:rPr>
              <a:t>Rețelele sociale: publicare instantanee, fără filtrare editorială → dezinformarea se propagă rapid.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00">
                <a:solidFill>
                  <a:srgbClr val="76F3FB"/>
                </a:solidFill>
                <a:latin typeface="Calibri"/>
              </a:rPr>
              <a:t>● </a:t>
            </a:r>
            <a:r>
              <a:rPr sz="1200">
                <a:solidFill>
                  <a:srgbClr val="E6DCF5"/>
                </a:solidFill>
                <a:latin typeface="Calibri"/>
              </a:rPr>
              <a:t>Texte scurte și informale (abrevieri, argou, greșeli intenționate) — metodele clasice funcționează slab aici.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00">
                <a:solidFill>
                  <a:srgbClr val="76F3FB"/>
                </a:solidFill>
                <a:latin typeface="Calibri"/>
              </a:rPr>
              <a:t>● </a:t>
            </a:r>
            <a:r>
              <a:rPr sz="1200">
                <a:solidFill>
                  <a:srgbClr val="E6DCF5"/>
                </a:solidFill>
                <a:latin typeface="Calibri"/>
              </a:rPr>
              <a:t>Impact real: site-uri de știri false AI ×10 în 2023 (49→600+) [12]; 64% se tem de manipularea alegerilor [6].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1234440"/>
            <a:ext cx="3840480" cy="3429000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00600" y="1234440"/>
            <a:ext cx="64008" cy="3429000"/>
          </a:xfrm>
          <a:prstGeom prst="rect">
            <a:avLst/>
          </a:prstGeom>
          <a:solidFill>
            <a:srgbClr val="76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137160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6F3FB"/>
                </a:solidFill>
                <a:latin typeface="Calibri"/>
              </a:rPr>
              <a:t>Stadiul actual al cercetării (din 2019)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1783080"/>
            <a:ext cx="3520440" cy="1828800"/>
          </a:xfrm>
          <a:prstGeom prst="rect">
            <a:avLst/>
          </a:prstGeom>
          <a:noFill/>
        </p:spPr>
        <p:txBody>
          <a:bodyPr wrap="square" lIns="0" rIns="0" tIns="254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00">
                <a:solidFill>
                  <a:srgbClr val="AE77D6"/>
                </a:solidFill>
                <a:latin typeface="Calibri"/>
              </a:rPr>
              <a:t>● </a:t>
            </a:r>
            <a:r>
              <a:rPr sz="1200">
                <a:solidFill>
                  <a:srgbClr val="E6DCF5"/>
                </a:solidFill>
                <a:latin typeface="Calibri"/>
              </a:rPr>
              <a:t>Metode statistice — perplexitate, entropie (GLTR) [5]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00">
                <a:solidFill>
                  <a:srgbClr val="AE77D6"/>
                </a:solidFill>
                <a:latin typeface="Calibri"/>
              </a:rPr>
              <a:t>● </a:t>
            </a:r>
            <a:r>
              <a:rPr sz="1200">
                <a:solidFill>
                  <a:srgbClr val="E6DCF5"/>
                </a:solidFill>
                <a:latin typeface="Calibri"/>
              </a:rPr>
              <a:t>Watermarking — semnal ascuns la generare [8]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00">
                <a:solidFill>
                  <a:srgbClr val="AE77D6"/>
                </a:solidFill>
                <a:latin typeface="Calibri"/>
              </a:rPr>
              <a:t>● </a:t>
            </a:r>
            <a:r>
              <a:rPr sz="1200">
                <a:solidFill>
                  <a:srgbClr val="E6DCF5"/>
                </a:solidFill>
                <a:latin typeface="Calibri"/>
              </a:rPr>
              <a:t>Clasificatori supervizați — RoBERTa fine-tuned [10]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00">
                <a:solidFill>
                  <a:srgbClr val="AE77D6"/>
                </a:solidFill>
                <a:latin typeface="Calibri"/>
              </a:rPr>
              <a:t>● </a:t>
            </a:r>
            <a:r>
              <a:rPr sz="1200">
                <a:solidFill>
                  <a:srgbClr val="E6DCF5"/>
                </a:solidFill>
                <a:latin typeface="Calibri"/>
              </a:rPr>
              <a:t>Metode zero-shot — DetectGPT [11]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3703320"/>
            <a:ext cx="3474720" cy="18288"/>
          </a:xfrm>
          <a:prstGeom prst="rect">
            <a:avLst/>
          </a:prstGeom>
          <a:solidFill>
            <a:srgbClr val="A89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3794760"/>
            <a:ext cx="3520440" cy="8686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FFB46B"/>
                </a:solidFill>
                <a:latin typeface="Calibri"/>
              </a:rPr>
              <a:t>Limitare comună: toate sunt evaluate pe texte lungi și formale, iar parafrazarea reduce acuratețea de la &gt;90% la &lt;50% [9].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3657600" cy="2057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6F3FB"/>
                </a:solidFill>
                <a:latin typeface="Calibri"/>
              </a:rPr>
              <a:t>OBIECTIVE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Ce mi-am propus să realizez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33271"/>
            <a:ext cx="777240" cy="41148"/>
          </a:xfrm>
          <a:prstGeom prst="rect">
            <a:avLst/>
          </a:prstGeom>
          <a:solidFill>
            <a:srgbClr val="76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A896C4"/>
                </a:solidFill>
                <a:latin typeface="Calibri"/>
              </a:rPr>
              <a:t>Detectarea mesajelor generate de AI pe rețelele sociale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896C4"/>
                </a:solidFill>
                <a:latin typeface="Calibri"/>
              </a:rPr>
              <a:t>3/11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394960" cy="749808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64008" cy="749808"/>
          </a:xfrm>
          <a:prstGeom prst="rect">
            <a:avLst/>
          </a:prstGeom>
          <a:solidFill>
            <a:srgbClr val="AE7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1517904"/>
            <a:ext cx="384048" cy="384048"/>
          </a:xfrm>
          <a:prstGeom prst="ellipse">
            <a:avLst/>
          </a:prstGeom>
          <a:solidFill>
            <a:srgbClr val="AE7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27048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7173A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41732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E77D6"/>
                </a:solidFill>
                <a:latin typeface="Calibri"/>
              </a:rPr>
              <a:t>Analiză critică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709928"/>
            <a:ext cx="4526280" cy="34747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DCF5"/>
                </a:solidFill>
                <a:latin typeface="Calibri"/>
              </a:rPr>
              <a:t>Studierea metodelor existente de detectare și a limitărilor lor pe rețelele sociale.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167128"/>
            <a:ext cx="5394960" cy="749808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167128"/>
            <a:ext cx="64008" cy="749808"/>
          </a:xfrm>
          <a:prstGeom prst="rect">
            <a:avLst/>
          </a:prstGeom>
          <a:solidFill>
            <a:srgbClr val="76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2359152"/>
            <a:ext cx="384048" cy="384048"/>
          </a:xfrm>
          <a:prstGeom prst="ellipse">
            <a:avLst/>
          </a:prstGeom>
          <a:solidFill>
            <a:srgbClr val="76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7173A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258568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6F3FB"/>
                </a:solidFill>
                <a:latin typeface="Calibri"/>
              </a:rPr>
              <a:t>Soluție specializată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551176"/>
            <a:ext cx="4526280" cy="34747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DCF5"/>
                </a:solidFill>
                <a:latin typeface="Calibri"/>
              </a:rPr>
              <a:t>Detector bazat pe machine learning, antrenat specific pe texte scurte de social media (50-500 caractere).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008376"/>
            <a:ext cx="5394960" cy="749808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008376"/>
            <a:ext cx="64008" cy="749808"/>
          </a:xfrm>
          <a:prstGeom prst="rect">
            <a:avLst/>
          </a:prstGeom>
          <a:solidFill>
            <a:srgbClr val="729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3232" y="3200400"/>
            <a:ext cx="384048" cy="384048"/>
          </a:xfrm>
          <a:prstGeom prst="ellipse">
            <a:avLst/>
          </a:prstGeom>
          <a:solidFill>
            <a:srgbClr val="729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209544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7173A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099816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29BCB"/>
                </a:solidFill>
                <a:latin typeface="Calibri"/>
              </a:rPr>
              <a:t>Comparație de modele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392424"/>
            <a:ext cx="4526280" cy="34747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DCF5"/>
                </a:solidFill>
                <a:latin typeface="Calibri"/>
              </a:rPr>
              <a:t>Evaluarea sistematică a 3 clasificatori complementari pe același set de date.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849624"/>
            <a:ext cx="5394960" cy="749808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849624"/>
            <a:ext cx="64008" cy="749808"/>
          </a:xfrm>
          <a:prstGeom prst="rect">
            <a:avLst/>
          </a:prstGeom>
          <a:solidFill>
            <a:srgbClr val="5DF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3232" y="4041648"/>
            <a:ext cx="384048" cy="384048"/>
          </a:xfrm>
          <a:prstGeom prst="ellipse">
            <a:avLst/>
          </a:prstGeom>
          <a:solidFill>
            <a:srgbClr val="5DF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050791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7173A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3941063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DF0B0"/>
                </a:solidFill>
                <a:latin typeface="Calibri"/>
              </a:rPr>
              <a:t>Aplicație accesibilă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233672"/>
            <a:ext cx="4526280" cy="34747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DCF5"/>
                </a:solidFill>
                <a:latin typeface="Calibri"/>
              </a:rPr>
              <a:t>Interfață web cu justificarea transparentă a deciziilor, nu doar un scor final.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6F3FB"/>
                </a:solidFill>
                <a:latin typeface="Calibri"/>
              </a:rPr>
              <a:t>IMPLEMENTARE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Tehnologii utilizate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33271"/>
            <a:ext cx="777240" cy="41148"/>
          </a:xfrm>
          <a:prstGeom prst="rect">
            <a:avLst/>
          </a:prstGeom>
          <a:solidFill>
            <a:srgbClr val="76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A896C4"/>
                </a:solidFill>
                <a:latin typeface="Calibri"/>
              </a:rPr>
              <a:t>Detectarea mesajelor generate de AI pe rețelele sociale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896C4"/>
                </a:solidFill>
                <a:latin typeface="Calibri"/>
              </a:rPr>
              <a:t>4/11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1993392" cy="2331720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1993392" cy="457200"/>
          </a:xfrm>
          <a:prstGeom prst="roundRect">
            <a:avLst/>
          </a:prstGeom>
          <a:solidFill>
            <a:srgbClr val="AE7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1993392" cy="228600"/>
          </a:xfrm>
          <a:prstGeom prst="rect">
            <a:avLst/>
          </a:prstGeom>
          <a:solidFill>
            <a:srgbClr val="AE7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1993392" cy="3657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7173A"/>
                </a:solidFill>
                <a:latin typeface="Calibri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1764792" cy="1691640"/>
          </a:xfrm>
          <a:prstGeom prst="rect">
            <a:avLst/>
          </a:prstGeom>
          <a:noFill/>
        </p:spPr>
        <p:txBody>
          <a:bodyPr wrap="square" lIns="0" rIns="0" tIns="254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50">
                <a:solidFill>
                  <a:srgbClr val="AE77D6"/>
                </a:solidFill>
                <a:latin typeface="Calibri"/>
              </a:rPr>
              <a:t>● </a:t>
            </a:r>
            <a:r>
              <a:rPr sz="1050">
                <a:solidFill>
                  <a:srgbClr val="E6DCF5"/>
                </a:solidFill>
                <a:latin typeface="Calibri"/>
              </a:rPr>
              <a:t>Python 3.10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50">
                <a:solidFill>
                  <a:srgbClr val="AE77D6"/>
                </a:solidFill>
                <a:latin typeface="Calibri"/>
              </a:rPr>
              <a:t>● </a:t>
            </a:r>
            <a:r>
              <a:rPr sz="1050">
                <a:solidFill>
                  <a:srgbClr val="E6DCF5"/>
                </a:solidFill>
                <a:latin typeface="Calibri"/>
              </a:rPr>
              <a:t>pandas — filtrare/echilibrare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50">
                <a:solidFill>
                  <a:srgbClr val="AE77D6"/>
                </a:solidFill>
                <a:latin typeface="Calibri"/>
              </a:rPr>
              <a:t>● </a:t>
            </a:r>
            <a:r>
              <a:rPr sz="1050">
                <a:solidFill>
                  <a:srgbClr val="E6DCF5"/>
                </a:solidFill>
                <a:latin typeface="Calibri"/>
              </a:rPr>
              <a:t>datasets (HuggingFace) — streaming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1280160"/>
            <a:ext cx="1993392" cy="2331720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06040" y="1280160"/>
            <a:ext cx="1993392" cy="457200"/>
          </a:xfrm>
          <a:prstGeom prst="roundRect">
            <a:avLst/>
          </a:prstGeom>
          <a:solidFill>
            <a:srgbClr val="76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40" y="1508760"/>
            <a:ext cx="1993392" cy="228600"/>
          </a:xfrm>
          <a:prstGeom prst="rect">
            <a:avLst/>
          </a:prstGeom>
          <a:solidFill>
            <a:srgbClr val="76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1325880"/>
            <a:ext cx="1993392" cy="3657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7173A"/>
                </a:solidFill>
                <a:latin typeface="Calibri"/>
              </a:rPr>
              <a:t>ML clasic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874519"/>
            <a:ext cx="1764792" cy="1691640"/>
          </a:xfrm>
          <a:prstGeom prst="rect">
            <a:avLst/>
          </a:prstGeom>
          <a:noFill/>
        </p:spPr>
        <p:txBody>
          <a:bodyPr wrap="square" lIns="0" rIns="0" tIns="254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50">
                <a:solidFill>
                  <a:srgbClr val="76F3FB"/>
                </a:solidFill>
                <a:latin typeface="Calibri"/>
              </a:rPr>
              <a:t>● </a:t>
            </a:r>
            <a:r>
              <a:rPr sz="1050">
                <a:solidFill>
                  <a:srgbClr val="E6DCF5"/>
                </a:solidFill>
                <a:latin typeface="Calibri"/>
              </a:rPr>
              <a:t>scikit-learn — NB, Reg. Logistică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50">
                <a:solidFill>
                  <a:srgbClr val="76F3FB"/>
                </a:solidFill>
                <a:latin typeface="Calibri"/>
              </a:rPr>
              <a:t>● </a:t>
            </a:r>
            <a:r>
              <a:rPr sz="1050">
                <a:solidFill>
                  <a:srgbClr val="E6DCF5"/>
                </a:solidFill>
                <a:latin typeface="Calibri"/>
              </a:rPr>
              <a:t>TF-IDF (10.000, n-grame 1-2)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50">
                <a:solidFill>
                  <a:srgbClr val="76F3FB"/>
                </a:solidFill>
                <a:latin typeface="Calibri"/>
              </a:rPr>
              <a:t>● </a:t>
            </a:r>
            <a:r>
              <a:rPr sz="1050">
                <a:solidFill>
                  <a:srgbClr val="E6DCF5"/>
                </a:solidFill>
                <a:latin typeface="Calibri"/>
              </a:rPr>
              <a:t>NLTK — cuvinte stop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1280160"/>
            <a:ext cx="1993392" cy="2331720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09160" y="1280160"/>
            <a:ext cx="1993392" cy="457200"/>
          </a:xfrm>
          <a:prstGeom prst="roundRect">
            <a:avLst/>
          </a:prstGeom>
          <a:solidFill>
            <a:srgbClr val="729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09160" y="1508760"/>
            <a:ext cx="1993392" cy="228600"/>
          </a:xfrm>
          <a:prstGeom prst="rect">
            <a:avLst/>
          </a:prstGeom>
          <a:solidFill>
            <a:srgbClr val="729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325880"/>
            <a:ext cx="1993392" cy="3657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7173A"/>
                </a:solidFill>
                <a:latin typeface="Calibri"/>
              </a:rPr>
              <a:t>Deep Learning / NLP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1874519"/>
            <a:ext cx="1764792" cy="1691640"/>
          </a:xfrm>
          <a:prstGeom prst="rect">
            <a:avLst/>
          </a:prstGeom>
          <a:noFill/>
        </p:spPr>
        <p:txBody>
          <a:bodyPr wrap="square" lIns="0" rIns="0" tIns="254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50">
                <a:solidFill>
                  <a:srgbClr val="729BCB"/>
                </a:solidFill>
                <a:latin typeface="Calibri"/>
              </a:rPr>
              <a:t>● </a:t>
            </a:r>
            <a:r>
              <a:rPr sz="1050">
                <a:solidFill>
                  <a:srgbClr val="E6DCF5"/>
                </a:solidFill>
                <a:latin typeface="Calibri"/>
              </a:rPr>
              <a:t>PyTorch 2.x — GPU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50">
                <a:solidFill>
                  <a:srgbClr val="729BCB"/>
                </a:solidFill>
                <a:latin typeface="Calibri"/>
              </a:rPr>
              <a:t>● </a:t>
            </a:r>
            <a:r>
              <a:rPr sz="1050">
                <a:solidFill>
                  <a:srgbClr val="E6DCF5"/>
                </a:solidFill>
                <a:latin typeface="Calibri"/>
              </a:rPr>
              <a:t>Transformers — RoBERTa-base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50">
                <a:solidFill>
                  <a:srgbClr val="729BCB"/>
                </a:solidFill>
                <a:latin typeface="Calibri"/>
              </a:rPr>
              <a:t>● </a:t>
            </a:r>
            <a:r>
              <a:rPr sz="1050">
                <a:solidFill>
                  <a:srgbClr val="E6DCF5"/>
                </a:solidFill>
                <a:latin typeface="Calibri"/>
              </a:rPr>
              <a:t>SpaCy — 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1280160"/>
            <a:ext cx="1993392" cy="2331720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12280" y="1280160"/>
            <a:ext cx="1993392" cy="457200"/>
          </a:xfrm>
          <a:prstGeom prst="roundRect">
            <a:avLst/>
          </a:prstGeom>
          <a:solidFill>
            <a:srgbClr val="5DF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12280" y="1508760"/>
            <a:ext cx="1993392" cy="228600"/>
          </a:xfrm>
          <a:prstGeom prst="rect">
            <a:avLst/>
          </a:prstGeom>
          <a:solidFill>
            <a:srgbClr val="5DF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1325880"/>
            <a:ext cx="1993392" cy="3657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7173A"/>
                </a:solidFill>
                <a:latin typeface="Calibri"/>
              </a:rPr>
              <a:t>Aplicație web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1874519"/>
            <a:ext cx="1764792" cy="1691640"/>
          </a:xfrm>
          <a:prstGeom prst="rect">
            <a:avLst/>
          </a:prstGeom>
          <a:noFill/>
        </p:spPr>
        <p:txBody>
          <a:bodyPr wrap="square" lIns="0" rIns="0" tIns="254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50">
                <a:solidFill>
                  <a:srgbClr val="5DF0B0"/>
                </a:solidFill>
                <a:latin typeface="Calibri"/>
              </a:rPr>
              <a:t>● </a:t>
            </a:r>
            <a:r>
              <a:rPr sz="1050">
                <a:solidFill>
                  <a:srgbClr val="E6DCF5"/>
                </a:solidFill>
                <a:latin typeface="Calibri"/>
              </a:rPr>
              <a:t>Flask 3.x — API REST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50">
                <a:solidFill>
                  <a:srgbClr val="5DF0B0"/>
                </a:solidFill>
                <a:latin typeface="Calibri"/>
              </a:rPr>
              <a:t>● </a:t>
            </a:r>
            <a:r>
              <a:rPr sz="1050">
                <a:solidFill>
                  <a:srgbClr val="E6DCF5"/>
                </a:solidFill>
                <a:latin typeface="Calibri"/>
              </a:rPr>
              <a:t>HTML / CSS / JS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50">
                <a:solidFill>
                  <a:srgbClr val="5DF0B0"/>
                </a:solidFill>
                <a:latin typeface="Calibri"/>
              </a:rPr>
              <a:t>● </a:t>
            </a:r>
            <a:r>
              <a:rPr sz="1050">
                <a:solidFill>
                  <a:srgbClr val="E6DCF5"/>
                </a:solidFill>
                <a:latin typeface="Calibri"/>
              </a:rPr>
              <a:t>Chart.js — vizualizări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794760"/>
            <a:ext cx="8138160" cy="868680"/>
          </a:xfrm>
          <a:prstGeom prst="roundRect">
            <a:avLst/>
          </a:prstGeom>
          <a:solidFill>
            <a:srgbClr val="3D2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3794760"/>
            <a:ext cx="64008" cy="868680"/>
          </a:xfrm>
          <a:prstGeom prst="rect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38862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B46B"/>
                </a:solidFill>
                <a:latin typeface="Calibri"/>
              </a:rPr>
              <a:t>Mediu de antrenare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16052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E6DCF5"/>
                </a:solidFill>
                <a:latin typeface="Calibri"/>
              </a:rPr>
              <a:t>Google Colaboratory · GPU NVIDIA Tesla T4 (15.6 GB VRAM) · precizie mixtă FP16 · antrenare RoBERTa ~85 min (3 epoci) · modele clasice &lt; 2 min · inferență locală pe CPU (0.5-2 s/text).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-1188720"/>
            <a:ext cx="3657600" cy="2057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6F3FB"/>
                </a:solidFill>
                <a:latin typeface="Calibri"/>
              </a:rPr>
              <a:t>ANALIZĂ PRELIMINARĂ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Ce am analizat pentru a stabili specificațiile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33271"/>
            <a:ext cx="777240" cy="41148"/>
          </a:xfrm>
          <a:prstGeom prst="rect">
            <a:avLst/>
          </a:prstGeom>
          <a:solidFill>
            <a:srgbClr val="76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A896C4"/>
                </a:solidFill>
                <a:latin typeface="Calibri"/>
              </a:rPr>
              <a:t>Detectarea mesajelor generate de AI pe rețelele sociale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896C4"/>
                </a:solidFill>
                <a:latin typeface="Calibri"/>
              </a:rPr>
              <a:t>5/11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3977639" cy="1463040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64008" cy="1463040"/>
          </a:xfrm>
          <a:prstGeom prst="rect">
            <a:avLst/>
          </a:prstGeom>
          <a:solidFill>
            <a:srgbClr val="AE7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90472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E77D6"/>
                </a:solidFill>
                <a:latin typeface="Calibri"/>
              </a:rPr>
              <a:t>Instrumente existente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856231"/>
            <a:ext cx="3566160" cy="18288"/>
          </a:xfrm>
          <a:prstGeom prst="rect">
            <a:avLst/>
          </a:prstGeom>
          <a:solidFill>
            <a:srgbClr val="A89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47672"/>
            <a:ext cx="3611880" cy="7772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E6DCF5"/>
                </a:solidFill>
                <a:latin typeface="Calibri"/>
              </a:rPr>
              <a:t>5 aplicații comerciale studiate (GPTZero [14], ZeroGPT, OpenAI Classifier, Originality.ai, Sapling) — toate slabe pe texte scurte.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325880"/>
            <a:ext cx="3977639" cy="1463040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325880"/>
            <a:ext cx="64008" cy="1463040"/>
          </a:xfrm>
          <a:prstGeom prst="rect">
            <a:avLst/>
          </a:prstGeom>
          <a:solidFill>
            <a:srgbClr val="76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1490472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6F3FB"/>
                </a:solidFill>
                <a:latin typeface="Calibri"/>
              </a:rPr>
              <a:t>Metode din literatură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92040" y="1856231"/>
            <a:ext cx="3566160" cy="18288"/>
          </a:xfrm>
          <a:prstGeom prst="rect">
            <a:avLst/>
          </a:prstGeom>
          <a:solidFill>
            <a:srgbClr val="A89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947672"/>
            <a:ext cx="3611880" cy="7772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E6DCF5"/>
                </a:solidFill>
                <a:latin typeface="Calibri"/>
              </a:rPr>
              <a:t>4 categorii identificate (statistice [5], watermarking [8], supervizate, zero-shot [11]) și limitările lor [13].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53512"/>
            <a:ext cx="3977639" cy="1463040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953512"/>
            <a:ext cx="64008" cy="1463040"/>
          </a:xfrm>
          <a:prstGeom prst="rect">
            <a:avLst/>
          </a:prstGeom>
          <a:solidFill>
            <a:srgbClr val="729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118104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29BCB"/>
                </a:solidFill>
                <a:latin typeface="Calibri"/>
              </a:rPr>
              <a:t>Specificul social media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483864"/>
            <a:ext cx="3566160" cy="18288"/>
          </a:xfrm>
          <a:prstGeom prst="rect">
            <a:avLst/>
          </a:prstGeom>
          <a:solidFill>
            <a:srgbClr val="A89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575304"/>
            <a:ext cx="3611880" cy="7772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E6DCF5"/>
                </a:solidFill>
                <a:latin typeface="Calibri"/>
              </a:rPr>
              <a:t>Lungime mică, limbaj informal, abrevieri și greșeli intenționate îngreunează clasificarea.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2953512"/>
            <a:ext cx="3977639" cy="1463040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63440" y="2953512"/>
            <a:ext cx="64008" cy="1463040"/>
          </a:xfrm>
          <a:prstGeom prst="rect">
            <a:avLst/>
          </a:prstGeom>
          <a:solidFill>
            <a:srgbClr val="5DF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3118104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DF0B0"/>
                </a:solidFill>
                <a:latin typeface="Calibri"/>
              </a:rPr>
              <a:t>Concluzii → specificații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92040" y="3483864"/>
            <a:ext cx="3566160" cy="18288"/>
          </a:xfrm>
          <a:prstGeom prst="rect">
            <a:avLst/>
          </a:prstGeom>
          <a:solidFill>
            <a:srgbClr val="A89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3575304"/>
            <a:ext cx="3611880" cy="7772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E6DCF5"/>
                </a:solidFill>
                <a:latin typeface="Calibri"/>
              </a:rPr>
              <a:t>Set de date 50-500 caractere · comparație multi-model · justificare per cuvânt · procesare în lot.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6F3FB"/>
                </a:solidFill>
                <a:latin typeface="Calibri"/>
              </a:rPr>
              <a:t>PROIECTARE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Decizii de arhitectură și model de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33271"/>
            <a:ext cx="777240" cy="41148"/>
          </a:xfrm>
          <a:prstGeom prst="rect">
            <a:avLst/>
          </a:prstGeom>
          <a:solidFill>
            <a:srgbClr val="76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A896C4"/>
                </a:solidFill>
                <a:latin typeface="Calibri"/>
              </a:rPr>
              <a:t>Detectarea mesajelor generate de AI pe rețelele sociale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896C4"/>
                </a:solidFill>
                <a:latin typeface="Calibri"/>
              </a:rPr>
              <a:t>6/11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4114800" cy="3429000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64008" cy="3429000"/>
          </a:xfrm>
          <a:prstGeom prst="rect">
            <a:avLst/>
          </a:prstGeom>
          <a:solidFill>
            <a:srgbClr val="AE7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E77D6"/>
                </a:solidFill>
                <a:latin typeface="Calibri"/>
              </a:rPr>
              <a:t>Arhitectură software: client-server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3794760" cy="1371600"/>
          </a:xfrm>
          <a:prstGeom prst="rect">
            <a:avLst/>
          </a:prstGeom>
          <a:noFill/>
        </p:spPr>
        <p:txBody>
          <a:bodyPr wrap="square" lIns="0" rIns="0" tIns="254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950">
                <a:solidFill>
                  <a:srgbClr val="76F3FB"/>
                </a:solidFill>
                <a:latin typeface="Calibri"/>
              </a:rPr>
              <a:t>● </a:t>
            </a:r>
            <a:r>
              <a:rPr sz="1150">
                <a:solidFill>
                  <a:srgbClr val="E6DCF5"/>
                </a:solidFill>
                <a:latin typeface="Calibri"/>
              </a:rPr>
              <a:t>Backend Flask: încarcă cele 3 modele la pornire; endpoint-uri /predict și /batch.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950">
                <a:solidFill>
                  <a:srgbClr val="76F3FB"/>
                </a:solidFill>
                <a:latin typeface="Calibri"/>
              </a:rPr>
              <a:t>● </a:t>
            </a:r>
            <a:r>
              <a:rPr sz="1150">
                <a:solidFill>
                  <a:srgbClr val="E6DCF5"/>
                </a:solidFill>
                <a:latin typeface="Calibri"/>
              </a:rPr>
              <a:t>Frontend HTML/CSS/JS: vizualizări, comutare model în browser fără re-apel server.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6F3FB"/>
                </a:solidFill>
                <a:latin typeface="Calibri"/>
              </a:rPr>
              <a:t>Trei modele complementare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66160"/>
            <a:ext cx="3794760" cy="1051560"/>
          </a:xfrm>
          <a:prstGeom prst="rect">
            <a:avLst/>
          </a:prstGeom>
          <a:noFill/>
        </p:spPr>
        <p:txBody>
          <a:bodyPr wrap="square" lIns="0" rIns="0" tIns="254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950">
                <a:solidFill>
                  <a:srgbClr val="AE77D6"/>
                </a:solidFill>
                <a:latin typeface="Calibri"/>
              </a:rPr>
              <a:t>● </a:t>
            </a:r>
            <a:r>
              <a:rPr sz="1150">
                <a:solidFill>
                  <a:srgbClr val="E6DCF5"/>
                </a:solidFill>
                <a:latin typeface="Calibri"/>
              </a:rPr>
              <a:t>Naive Bayes &amp; Reg. Logistică (TF-IDF) — baseline rapid, interpretabil.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950">
                <a:solidFill>
                  <a:srgbClr val="AE77D6"/>
                </a:solidFill>
                <a:latin typeface="Calibri"/>
              </a:rPr>
              <a:t>● </a:t>
            </a:r>
            <a:r>
              <a:rPr sz="1150">
                <a:solidFill>
                  <a:srgbClr val="E6DCF5"/>
                </a:solidFill>
                <a:latin typeface="Calibri"/>
              </a:rPr>
              <a:t>RoBERTa fine-tuned (125M parametri) [10] — model principal, bazat pe Transformer [15].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1234440"/>
            <a:ext cx="3840480" cy="3429000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00600" y="1234440"/>
            <a:ext cx="64008" cy="3429000"/>
          </a:xfrm>
          <a:prstGeom prst="rect">
            <a:avLst/>
          </a:prstGeom>
          <a:solidFill>
            <a:srgbClr val="729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37160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29BCB"/>
                </a:solidFill>
                <a:latin typeface="Calibri"/>
              </a:rPr>
              <a:t>Model de date: 6 surse combinate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810512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● HC3 Reddit ELI5 [7]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810512"/>
            <a:ext cx="169164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896C4"/>
                </a:solidFill>
                <a:latin typeface="Calibri"/>
              </a:rPr>
              <a:t>perechi uman/AI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139696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● TweetEval [1]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139696"/>
            <a:ext cx="169164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896C4"/>
                </a:solidFill>
                <a:latin typeface="Calibri"/>
              </a:rPr>
              <a:t>tweets reale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468880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● Reddit comentarii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468880"/>
            <a:ext cx="169164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896C4"/>
                </a:solidFill>
                <a:latin typeface="Calibri"/>
              </a:rPr>
              <a:t>limbaj informal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2798064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● RAID (2024) [4]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798064"/>
            <a:ext cx="169164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896C4"/>
                </a:solidFill>
                <a:latin typeface="Calibri"/>
              </a:rPr>
              <a:t>AI multi-model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127248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● AI_Human.csv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127248"/>
            <a:ext cx="169164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896C4"/>
                </a:solidFill>
                <a:latin typeface="Calibri"/>
              </a:rPr>
              <a:t>volum/diversitate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3456432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● AI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456432"/>
            <a:ext cx="169164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896C4"/>
                </a:solidFill>
                <a:latin typeface="Calibri"/>
              </a:rPr>
              <a:t>texte AI extra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3822191"/>
            <a:ext cx="3474720" cy="18288"/>
          </a:xfrm>
          <a:prstGeom prst="rect">
            <a:avLst/>
          </a:prstGeom>
          <a:solidFill>
            <a:srgbClr val="A89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3913632"/>
            <a:ext cx="3520440" cy="7315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DF0B0"/>
                </a:solidFill>
                <a:latin typeface="Calibri"/>
              </a:rPr>
              <a:t>45.834 exemple echilibrate 50/50 (uman/AI) · filtrate 50-500 caractere · împărțire stratificată 70/15/15.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8880"/>
            <a:ext cx="3291840" cy="18516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6F3FB"/>
                </a:solidFill>
                <a:latin typeface="Calibri"/>
              </a:rPr>
              <a:t>REALIZARE PRACTICĂ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Rezultate obținute  →  urmează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33271"/>
            <a:ext cx="777240" cy="41148"/>
          </a:xfrm>
          <a:prstGeom prst="rect">
            <a:avLst/>
          </a:prstGeom>
          <a:solidFill>
            <a:srgbClr val="76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A896C4"/>
                </a:solidFill>
                <a:latin typeface="Calibri"/>
              </a:rPr>
              <a:t>Detectarea mesajelor generate de AI pe rețelele sociale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896C4"/>
                </a:solidFill>
                <a:latin typeface="Calibri"/>
              </a:rPr>
              <a:t>7/11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4937760" cy="384048"/>
          </a:xfrm>
          <a:prstGeom prst="roundRect">
            <a:avLst/>
          </a:prstGeom>
          <a:solidFill>
            <a:srgbClr val="5A13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07592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307592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Acuratețe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1307592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F1-score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719072"/>
            <a:ext cx="4937760" cy="420624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719072"/>
            <a:ext cx="54864" cy="420624"/>
          </a:xfrm>
          <a:prstGeom prst="rect">
            <a:avLst/>
          </a:prstGeom>
          <a:solidFill>
            <a:srgbClr val="AE7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75564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Naive Bayes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755648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E6DCF5"/>
                </a:solidFill>
                <a:latin typeface="Calibri"/>
              </a:rPr>
              <a:t>94.24%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1755648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E6DCF5"/>
                </a:solidFill>
                <a:latin typeface="Calibri"/>
              </a:rPr>
              <a:t>94.17%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194560"/>
            <a:ext cx="4937760" cy="420624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194560"/>
            <a:ext cx="54864" cy="420624"/>
          </a:xfrm>
          <a:prstGeom prst="rect">
            <a:avLst/>
          </a:prstGeom>
          <a:solidFill>
            <a:srgbClr val="729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231136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Reg. Logistică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223113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E6DCF5"/>
                </a:solidFill>
                <a:latin typeface="Calibri"/>
              </a:rPr>
              <a:t>96.71%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223113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E6DCF5"/>
                </a:solidFill>
                <a:latin typeface="Calibri"/>
              </a:rPr>
              <a:t>96.66%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670048"/>
            <a:ext cx="4937760" cy="420624"/>
          </a:xfrm>
          <a:prstGeom prst="roundRect">
            <a:avLst/>
          </a:prstGeom>
          <a:solidFill>
            <a:srgbClr val="3D2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2670048"/>
            <a:ext cx="54864" cy="420624"/>
          </a:xfrm>
          <a:prstGeom prst="rect">
            <a:avLst/>
          </a:prstGeom>
          <a:solidFill>
            <a:srgbClr val="5DF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706624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RoBERTa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2706624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5DF0B0"/>
                </a:solidFill>
                <a:latin typeface="Calibri"/>
              </a:rPr>
              <a:t>99.17%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2706624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5DF0B0"/>
                </a:solidFill>
                <a:latin typeface="Calibri"/>
              </a:rPr>
              <a:t>99.18%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24612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A896C4"/>
                </a:solidFill>
                <a:latin typeface="Calibri"/>
              </a:rPr>
              <a:t>Testat pe 6.876 exemple (50/50). Pe sursele propriu-zise de social media: acuratețe &gt;99.5% — confirmă teoria detectabilității [3].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0" y="1280160"/>
            <a:ext cx="2926080" cy="2194560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15000" y="1280160"/>
            <a:ext cx="64008" cy="2194560"/>
          </a:xfrm>
          <a:prstGeom prst="rect">
            <a:avLst/>
          </a:prstGeom>
          <a:solidFill>
            <a:srgbClr val="76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97880" y="138988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6F3FB"/>
                </a:solidFill>
                <a:latin typeface="Calibri"/>
              </a:rPr>
              <a:t>Demo aplicație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1755648"/>
            <a:ext cx="2606040" cy="1691640"/>
          </a:xfrm>
          <a:prstGeom prst="rect">
            <a:avLst/>
          </a:prstGeom>
          <a:noFill/>
        </p:spPr>
        <p:txBody>
          <a:bodyPr wrap="square" lIns="0" rIns="0" tIns="254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50">
                <a:solidFill>
                  <a:srgbClr val="5DF0B0"/>
                </a:solidFill>
                <a:latin typeface="Calibri"/>
              </a:rPr>
              <a:t>● </a:t>
            </a:r>
            <a:r>
              <a:rPr sz="1050">
                <a:solidFill>
                  <a:srgbClr val="E6DCF5"/>
                </a:solidFill>
                <a:latin typeface="Calibri"/>
              </a:rPr>
              <a:t>Verdict + scor agregat de risc (0-100)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50">
                <a:solidFill>
                  <a:srgbClr val="5DF0B0"/>
                </a:solidFill>
                <a:latin typeface="Calibri"/>
              </a:rPr>
              <a:t>● </a:t>
            </a:r>
            <a:r>
              <a:rPr sz="1050">
                <a:solidFill>
                  <a:srgbClr val="E6DCF5"/>
                </a:solidFill>
                <a:latin typeface="Calibri"/>
              </a:rPr>
              <a:t>Evidențiere cuvinte (Leave-One-Out)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50">
                <a:solidFill>
                  <a:srgbClr val="5DF0B0"/>
                </a:solidFill>
                <a:latin typeface="Calibri"/>
              </a:rPr>
              <a:t>● </a:t>
            </a:r>
            <a:r>
              <a:rPr sz="1050">
                <a:solidFill>
                  <a:srgbClr val="E6DCF5"/>
                </a:solidFill>
                <a:latin typeface="Calibri"/>
              </a:rPr>
              <a:t>Comparație 3 modele simultan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50">
                <a:solidFill>
                  <a:srgbClr val="5DF0B0"/>
                </a:solidFill>
                <a:latin typeface="Calibri"/>
              </a:rPr>
              <a:t>● </a:t>
            </a:r>
            <a:r>
              <a:rPr sz="1050">
                <a:solidFill>
                  <a:srgbClr val="E6DCF5"/>
                </a:solidFill>
                <a:latin typeface="Calibri"/>
              </a:rPr>
              <a:t>Procesare în lot CSV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886200"/>
            <a:ext cx="8138160" cy="777240"/>
          </a:xfrm>
          <a:prstGeom prst="roundRect">
            <a:avLst/>
          </a:prstGeom>
          <a:solidFill>
            <a:srgbClr val="3D2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3886200"/>
            <a:ext cx="64008" cy="777240"/>
          </a:xfrm>
          <a:prstGeom prst="rect">
            <a:avLst/>
          </a:prstGeom>
          <a:solidFill>
            <a:srgbClr val="5DF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3968496"/>
            <a:ext cx="777240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E6DCF5"/>
                </a:solidFill>
                <a:latin typeface="Calibri"/>
              </a:rPr>
              <a:t>Confusion matrix RoBERTa: 3.388 uman corect · 3.431 AI corect · 50 fals-pozitive · 7 fals-negative — aproape toate erorile provin din texte formale, nu din social media.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926080"/>
            <a:ext cx="2377440" cy="133731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6F3FB"/>
                </a:solidFill>
                <a:latin typeface="Calibri"/>
              </a:rPr>
              <a:t>SINTEZĂ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Contribuții originale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33271"/>
            <a:ext cx="777240" cy="41148"/>
          </a:xfrm>
          <a:prstGeom prst="rect">
            <a:avLst/>
          </a:prstGeom>
          <a:solidFill>
            <a:srgbClr val="76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A896C4"/>
                </a:solidFill>
                <a:latin typeface="Calibri"/>
              </a:rPr>
              <a:t>Detectarea mesajelor generate de AI pe rețelele sociale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896C4"/>
                </a:solidFill>
                <a:latin typeface="Calibri"/>
              </a:rPr>
              <a:t>8/11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280160"/>
            <a:ext cx="457200" cy="566928"/>
          </a:xfrm>
          <a:prstGeom prst="ellipse">
            <a:avLst/>
          </a:prstGeom>
          <a:solidFill>
            <a:srgbClr val="AE7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99031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7173A"/>
                </a:solidFill>
                <a:latin typeface="Calibr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280160"/>
            <a:ext cx="6949440" cy="566928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335024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E77D6"/>
                </a:solidFill>
                <a:latin typeface="Calibri"/>
              </a:rPr>
              <a:t>Set de date dedicat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335024"/>
            <a:ext cx="3977639" cy="45720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DCF5"/>
                </a:solidFill>
                <a:latin typeface="Calibri"/>
              </a:rPr>
              <a:t>6 surse de social media combinate, focalizat pe texte scurte (50-500 car.).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1956815"/>
            <a:ext cx="457200" cy="566928"/>
          </a:xfrm>
          <a:prstGeom prst="ellipse">
            <a:avLst/>
          </a:prstGeom>
          <a:solidFill>
            <a:srgbClr val="76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75687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7173A"/>
                </a:solidFill>
                <a:latin typeface="Calibr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1956815"/>
            <a:ext cx="6949440" cy="566928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011679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6F3FB"/>
                </a:solidFill>
                <a:latin typeface="Calibri"/>
              </a:rPr>
              <a:t>Comparație 3 modele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011679"/>
            <a:ext cx="3977639" cy="45720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DCF5"/>
                </a:solidFill>
                <a:latin typeface="Calibri"/>
              </a:rPr>
              <a:t>Naive Bayes, Reg. Logistică și RoBERTa evaluate în condiții identice.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2633472"/>
            <a:ext cx="457200" cy="566928"/>
          </a:xfrm>
          <a:prstGeom prst="ellipse">
            <a:avLst/>
          </a:prstGeom>
          <a:solidFill>
            <a:srgbClr val="729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752344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7173A"/>
                </a:solidFill>
                <a:latin typeface="Calibri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2633472"/>
            <a:ext cx="6949440" cy="566928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2688336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29BCB"/>
                </a:solidFill>
                <a:latin typeface="Calibri"/>
              </a:rPr>
              <a:t>Justificare Leave-One-Out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2688336"/>
            <a:ext cx="3977639" cy="45720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DCF5"/>
                </a:solidFill>
                <a:latin typeface="Calibri"/>
              </a:rPr>
              <a:t>Explicare la nivel de cuvânt — absentă în instrumentele comerciale.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" y="3310127"/>
            <a:ext cx="457200" cy="566928"/>
          </a:xfrm>
          <a:prstGeom prst="ellipse">
            <a:avLst/>
          </a:prstGeom>
          <a:solidFill>
            <a:srgbClr val="5DF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428999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7173A"/>
                </a:solidFill>
                <a:latin typeface="Calibri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3310127"/>
            <a:ext cx="6949440" cy="566928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3364991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DF0B0"/>
                </a:solidFill>
                <a:latin typeface="Calibri"/>
              </a:rPr>
              <a:t>Scor agregat de risc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364991"/>
            <a:ext cx="3977639" cy="45720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DCF5"/>
                </a:solidFill>
                <a:latin typeface="Calibri"/>
              </a:rPr>
              <a:t>Indicator 0-100 multi-semnal (RoBERTa 60% + fraze AI + statistici vocabular).</a:t>
            </a:r>
          </a:p>
        </p:txBody>
      </p:sp>
      <p:sp>
        <p:nvSpPr>
          <p:cNvPr id="28" name="Oval 27"/>
          <p:cNvSpPr/>
          <p:nvPr/>
        </p:nvSpPr>
        <p:spPr>
          <a:xfrm>
            <a:off x="502920" y="3986783"/>
            <a:ext cx="457200" cy="566928"/>
          </a:xfrm>
          <a:prstGeom prst="ellipse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105655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7173A"/>
                </a:solidFill>
                <a:latin typeface="Calibri"/>
              </a:rP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3986783"/>
            <a:ext cx="6949440" cy="566928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4041647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46B"/>
                </a:solidFill>
                <a:latin typeface="Calibri"/>
              </a:rPr>
              <a:t>Aplicație web integrată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4041647"/>
            <a:ext cx="3977639" cy="45720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DCF5"/>
                </a:solidFill>
                <a:latin typeface="Calibri"/>
              </a:rPr>
              <a:t>Analiză, comparație, per-propoziție, NER, batch CSV — open-source.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-1280160"/>
            <a:ext cx="3657600" cy="2057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6F3FB"/>
                </a:solidFill>
                <a:latin typeface="Calibri"/>
              </a:rPr>
              <a:t>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Dezvoltări viitoare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33271"/>
            <a:ext cx="777240" cy="41148"/>
          </a:xfrm>
          <a:prstGeom prst="rect">
            <a:avLst/>
          </a:prstGeom>
          <a:solidFill>
            <a:srgbClr val="76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A896C4"/>
                </a:solidFill>
                <a:latin typeface="Calibri"/>
              </a:rPr>
              <a:t>Detectarea mesajelor generate de AI pe rețelele sociale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896C4"/>
                </a:solidFill>
                <a:latin typeface="Calibri"/>
              </a:rPr>
              <a:t>9/11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3977639" cy="932688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64008" cy="932688"/>
          </a:xfrm>
          <a:prstGeom prst="rect">
            <a:avLst/>
          </a:prstGeom>
          <a:solidFill>
            <a:srgbClr val="AE7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44752"/>
            <a:ext cx="361188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E77D6"/>
                </a:solidFill>
                <a:latin typeface="Calibri"/>
              </a:rPr>
              <a:t>Extindere multilingvă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3611880" cy="4114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DCF5"/>
                </a:solidFill>
                <a:latin typeface="Calibri"/>
              </a:rPr>
              <a:t>XLM-RoBERTa sau seturi de date dedicate, inclusiv pentru limba română.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325880"/>
            <a:ext cx="3977639" cy="932688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325880"/>
            <a:ext cx="64008" cy="932688"/>
          </a:xfrm>
          <a:prstGeom prst="rect">
            <a:avLst/>
          </a:prstGeom>
          <a:solidFill>
            <a:srgbClr val="76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444752"/>
            <a:ext cx="361188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6F3FB"/>
                </a:solidFill>
                <a:latin typeface="Calibri"/>
              </a:rPr>
              <a:t>Reantrenare periodică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783080"/>
            <a:ext cx="3611880" cy="4114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DCF5"/>
                </a:solidFill>
                <a:latin typeface="Calibri"/>
              </a:rPr>
              <a:t>Pe modele noi (GPT-4o, Claude, Gemini) — combaterea „concept drift”.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404872"/>
            <a:ext cx="3977639" cy="932688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404872"/>
            <a:ext cx="64008" cy="932688"/>
          </a:xfrm>
          <a:prstGeom prst="rect">
            <a:avLst/>
          </a:prstGeom>
          <a:solidFill>
            <a:srgbClr val="729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361188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29BCB"/>
                </a:solidFill>
                <a:latin typeface="Calibri"/>
              </a:rPr>
              <a:t>Robustețe la evitare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862072"/>
            <a:ext cx="3611880" cy="4114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DCF5"/>
                </a:solidFill>
                <a:latin typeface="Calibri"/>
              </a:rPr>
              <a:t>Testare sistematică împotriva parafrazării și „humanizării” textului.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2404872"/>
            <a:ext cx="3977639" cy="932688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2404872"/>
            <a:ext cx="64008" cy="932688"/>
          </a:xfrm>
          <a:prstGeom prst="rect">
            <a:avLst/>
          </a:prstGeom>
          <a:solidFill>
            <a:srgbClr val="5DF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2523744"/>
            <a:ext cx="361188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DF0B0"/>
                </a:solidFill>
                <a:latin typeface="Calibri"/>
              </a:rPr>
              <a:t>Semnale comportamentale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2862072"/>
            <a:ext cx="3611880" cy="4114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DCF5"/>
                </a:solidFill>
                <a:latin typeface="Calibri"/>
              </a:rPr>
              <a:t>Integrarea metadatelor de rețea (frecvență postare, profil cont).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483863"/>
            <a:ext cx="3977639" cy="932688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483863"/>
            <a:ext cx="64008" cy="932688"/>
          </a:xfrm>
          <a:prstGeom prst="rect">
            <a:avLst/>
          </a:prstGeom>
          <a:solidFill>
            <a:srgbClr val="FF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602735"/>
            <a:ext cx="361188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46B"/>
                </a:solidFill>
                <a:latin typeface="Calibri"/>
              </a:rPr>
              <a:t>Infrastructură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941063"/>
            <a:ext cx="3611880" cy="4114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DCF5"/>
                </a:solidFill>
                <a:latin typeface="Calibri"/>
              </a:rPr>
              <a:t>Extensie de browser, API public REST, containerizare Docker.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3483863"/>
            <a:ext cx="3977639" cy="932688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63440" y="3483863"/>
            <a:ext cx="64008" cy="932688"/>
          </a:xfrm>
          <a:prstGeom prst="rect">
            <a:avLst/>
          </a:prstGeom>
          <a:solidFill>
            <a:srgbClr val="AE7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3602735"/>
            <a:ext cx="361188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E77D6"/>
                </a:solidFill>
                <a:latin typeface="Calibri"/>
              </a:rPr>
              <a:t>Calibrare scor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941063"/>
            <a:ext cx="3611880" cy="4114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6DCF5"/>
                </a:solidFill>
                <a:latin typeface="Calibri"/>
              </a:rPr>
              <a:t>Optimizarea automată a ponderilor scorului agregat de risc.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6F3FB"/>
                </a:solidFill>
                <a:latin typeface="Calibri"/>
              </a:rPr>
              <a:t>REFERINȚE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Bibliografie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33271"/>
            <a:ext cx="777240" cy="41148"/>
          </a:xfrm>
          <a:prstGeom prst="rect">
            <a:avLst/>
          </a:prstGeom>
          <a:solidFill>
            <a:srgbClr val="76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A896C4"/>
                </a:solidFill>
                <a:latin typeface="Calibri"/>
              </a:rPr>
              <a:t>Detectarea mesajelor generate de AI pe rețelele sociale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86460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896C4"/>
                </a:solidFill>
                <a:latin typeface="Calibri"/>
              </a:rPr>
              <a:t>10/11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4160520" cy="35204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98000"/>
              </a:lnSpc>
              <a:spcAft>
                <a:spcPts val="600"/>
              </a:spcAft>
            </a:pPr>
            <a:r>
              <a:rPr sz="850" b="1">
                <a:solidFill>
                  <a:srgbClr val="76F3FB"/>
                </a:solidFill>
                <a:latin typeface="Calibri"/>
              </a:rPr>
              <a:t>[1] </a:t>
            </a:r>
            <a:r>
              <a:rPr sz="850">
                <a:solidFill>
                  <a:srgbClr val="E6DCF5"/>
                </a:solidFill>
                <a:latin typeface="Calibri"/>
              </a:rPr>
              <a:t>Barbieri, F., Camacho-Collados, J., Espinosa-Anke, L., &amp; Neves, L. (2020). TweetEval: Unified Benchmark and Comparative Evaluation for Tweet Classification. arXiv:2010.12421.</a:t>
            </a:r>
          </a:p>
          <a:p>
            <a:pPr>
              <a:lnSpc>
                <a:spcPct val="98000"/>
              </a:lnSpc>
              <a:spcAft>
                <a:spcPts val="600"/>
              </a:spcAft>
            </a:pPr>
            <a:r>
              <a:rPr sz="850" b="1">
                <a:solidFill>
                  <a:srgbClr val="76F3FB"/>
                </a:solidFill>
                <a:latin typeface="Calibri"/>
              </a:rPr>
              <a:t>[2] </a:t>
            </a:r>
            <a:r>
              <a:rPr sz="850">
                <a:solidFill>
                  <a:srgbClr val="E6DCF5"/>
                </a:solidFill>
                <a:latin typeface="Calibri"/>
              </a:rPr>
              <a:t>Brown, T., Mann, B., Ryder, N., Subbiah, M., Kaplan, J., Dhariwal, P., et al. (2020). Language Models are Few-Shot Learners. arXiv:2005.14165.</a:t>
            </a:r>
          </a:p>
          <a:p>
            <a:pPr>
              <a:lnSpc>
                <a:spcPct val="98000"/>
              </a:lnSpc>
              <a:spcAft>
                <a:spcPts val="600"/>
              </a:spcAft>
            </a:pPr>
            <a:r>
              <a:rPr sz="850" b="1">
                <a:solidFill>
                  <a:srgbClr val="76F3FB"/>
                </a:solidFill>
                <a:latin typeface="Calibri"/>
              </a:rPr>
              <a:t>[3] </a:t>
            </a:r>
            <a:r>
              <a:rPr sz="850">
                <a:solidFill>
                  <a:srgbClr val="E6DCF5"/>
                </a:solidFill>
                <a:latin typeface="Calibri"/>
              </a:rPr>
              <a:t>Chakraborty, S., Bedi, A. S., Zhu, S., An, B., Manocha, D., &amp; Huang, F. (2023). On the Possibilities of AI-Generated Text Detection. arXiv:2304.04736.</a:t>
            </a:r>
          </a:p>
          <a:p>
            <a:pPr>
              <a:lnSpc>
                <a:spcPct val="98000"/>
              </a:lnSpc>
              <a:spcAft>
                <a:spcPts val="600"/>
              </a:spcAft>
            </a:pPr>
            <a:r>
              <a:rPr sz="850" b="1">
                <a:solidFill>
                  <a:srgbClr val="76F3FB"/>
                </a:solidFill>
                <a:latin typeface="Calibri"/>
              </a:rPr>
              <a:t>[4] </a:t>
            </a:r>
            <a:r>
              <a:rPr sz="850">
                <a:solidFill>
                  <a:srgbClr val="E6DCF5"/>
                </a:solidFill>
                <a:latin typeface="Calibri"/>
              </a:rPr>
              <a:t>Dugan, L., Hwang, A., Trhlík, F., Zhu, Z., Ippolito, D., &amp; Callison-Burch, C. (2024). RAID: A Shared Benchmark for Robust Evaluation of Machine-Generated Text Detectors. ACL 2024. arXiv:2405.07940.</a:t>
            </a:r>
          </a:p>
          <a:p>
            <a:pPr>
              <a:lnSpc>
                <a:spcPct val="98000"/>
              </a:lnSpc>
              <a:spcAft>
                <a:spcPts val="600"/>
              </a:spcAft>
            </a:pPr>
            <a:r>
              <a:rPr sz="850" b="1">
                <a:solidFill>
                  <a:srgbClr val="76F3FB"/>
                </a:solidFill>
                <a:latin typeface="Calibri"/>
              </a:rPr>
              <a:t>[5] </a:t>
            </a:r>
            <a:r>
              <a:rPr sz="850">
                <a:solidFill>
                  <a:srgbClr val="E6DCF5"/>
                </a:solidFill>
                <a:latin typeface="Calibri"/>
              </a:rPr>
              <a:t>Gehrmann, S., Strobelt, H., &amp; Rush, A. M. (2019). GLTR: Statistical Detection and Visualization of Generated Text. arXiv:1906.04043.</a:t>
            </a:r>
          </a:p>
          <a:p>
            <a:pPr>
              <a:lnSpc>
                <a:spcPct val="98000"/>
              </a:lnSpc>
              <a:spcAft>
                <a:spcPts val="600"/>
              </a:spcAft>
            </a:pPr>
            <a:r>
              <a:rPr sz="850" b="1">
                <a:solidFill>
                  <a:srgbClr val="76F3FB"/>
                </a:solidFill>
                <a:latin typeface="Calibri"/>
              </a:rPr>
              <a:t>[6] </a:t>
            </a:r>
            <a:r>
              <a:rPr sz="850">
                <a:solidFill>
                  <a:srgbClr val="E6DCF5"/>
                </a:solidFill>
                <a:latin typeface="Calibri"/>
              </a:rPr>
              <a:t>Gillespie, N., Lockey, S., Curtis, C., Pool, J., &amp; Akbari, A. (2025). Trust, Attitudes and Use of Artificial Intelligence: A Global Study 2025. Univ. of Melbourne &amp; KPMG.</a:t>
            </a:r>
          </a:p>
          <a:p>
            <a:pPr>
              <a:lnSpc>
                <a:spcPct val="98000"/>
              </a:lnSpc>
              <a:spcAft>
                <a:spcPts val="600"/>
              </a:spcAft>
            </a:pPr>
            <a:r>
              <a:rPr sz="850" b="1">
                <a:solidFill>
                  <a:srgbClr val="76F3FB"/>
                </a:solidFill>
                <a:latin typeface="Calibri"/>
              </a:rPr>
              <a:t>[7] </a:t>
            </a:r>
            <a:r>
              <a:rPr sz="850">
                <a:solidFill>
                  <a:srgbClr val="E6DCF5"/>
                </a:solidFill>
                <a:latin typeface="Calibri"/>
              </a:rPr>
              <a:t>Guo, W., Shen, W., Lei, J., Chow, K., &amp; Shi, E. (2023). How Close is ChatGPT to Human Experts? Comparison Corpus, Evaluation, and Detection (HC3). arXiv:2301.07597.</a:t>
            </a:r>
          </a:p>
          <a:p>
            <a:pPr>
              <a:lnSpc>
                <a:spcPct val="98000"/>
              </a:lnSpc>
              <a:spcAft>
                <a:spcPts val="600"/>
              </a:spcAft>
            </a:pPr>
            <a:r>
              <a:rPr sz="850" b="1">
                <a:solidFill>
                  <a:srgbClr val="76F3FB"/>
                </a:solidFill>
                <a:latin typeface="Calibri"/>
              </a:rPr>
              <a:t>[8] </a:t>
            </a:r>
            <a:r>
              <a:rPr sz="850">
                <a:solidFill>
                  <a:srgbClr val="E6DCF5"/>
                </a:solidFill>
                <a:latin typeface="Calibri"/>
              </a:rPr>
              <a:t>Kirchenbauer, J., Geiping, J., Wen, Y., Katz, J., Miers, I., &amp; Goldstein, T. (2023). A Watermark for Large Language Models. arXiv:2301.10226.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280160"/>
            <a:ext cx="4160520" cy="35204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98000"/>
              </a:lnSpc>
              <a:spcAft>
                <a:spcPts val="600"/>
              </a:spcAft>
            </a:pPr>
            <a:r>
              <a:rPr sz="850" b="1">
                <a:solidFill>
                  <a:srgbClr val="76F3FB"/>
                </a:solidFill>
                <a:latin typeface="Calibri"/>
              </a:rPr>
              <a:t>[9] </a:t>
            </a:r>
            <a:r>
              <a:rPr sz="850">
                <a:solidFill>
                  <a:srgbClr val="E6DCF5"/>
                </a:solidFill>
                <a:latin typeface="Calibri"/>
              </a:rPr>
              <a:t>Krishna, K., Song, Y., Karpinska, M., Wieting, J., &amp; Iyyer, M. (2023). Paraphrasing Evades Detectors of AI-Generated Text. arXiv:2303.13408.</a:t>
            </a:r>
          </a:p>
          <a:p>
            <a:pPr>
              <a:lnSpc>
                <a:spcPct val="98000"/>
              </a:lnSpc>
              <a:spcAft>
                <a:spcPts val="600"/>
              </a:spcAft>
            </a:pPr>
            <a:r>
              <a:rPr sz="850" b="1">
                <a:solidFill>
                  <a:srgbClr val="76F3FB"/>
                </a:solidFill>
                <a:latin typeface="Calibri"/>
              </a:rPr>
              <a:t>[10] </a:t>
            </a:r>
            <a:r>
              <a:rPr sz="850">
                <a:solidFill>
                  <a:srgbClr val="E6DCF5"/>
                </a:solidFill>
                <a:latin typeface="Calibri"/>
              </a:rPr>
              <a:t>Liu, Y., Ott, M., Goyal, N., Du, J., Joshi, M., Chen, D., et al. (2019). RoBERTa: A Robustly Optimized BERT Pretraining Approach. arXiv:1907.11692.</a:t>
            </a:r>
          </a:p>
          <a:p>
            <a:pPr>
              <a:lnSpc>
                <a:spcPct val="98000"/>
              </a:lnSpc>
              <a:spcAft>
                <a:spcPts val="600"/>
              </a:spcAft>
            </a:pPr>
            <a:r>
              <a:rPr sz="850" b="1">
                <a:solidFill>
                  <a:srgbClr val="76F3FB"/>
                </a:solidFill>
                <a:latin typeface="Calibri"/>
              </a:rPr>
              <a:t>[11] </a:t>
            </a:r>
            <a:r>
              <a:rPr sz="850">
                <a:solidFill>
                  <a:srgbClr val="E6DCF5"/>
                </a:solidFill>
                <a:latin typeface="Calibri"/>
              </a:rPr>
              <a:t>Mitchell, E., Lee, Y., Khazatsky, A., Manning, C. D., &amp; Finn, C. (2023). DetectGPT: Zero-Shot Machine-Generated Text Detection Using Probability Curvature. arXiv:2301.11305.</a:t>
            </a:r>
          </a:p>
          <a:p>
            <a:pPr>
              <a:lnSpc>
                <a:spcPct val="98000"/>
              </a:lnSpc>
              <a:spcAft>
                <a:spcPts val="600"/>
              </a:spcAft>
            </a:pPr>
            <a:r>
              <a:rPr sz="850" b="1">
                <a:solidFill>
                  <a:srgbClr val="76F3FB"/>
                </a:solidFill>
                <a:latin typeface="Calibri"/>
              </a:rPr>
              <a:t>[12] </a:t>
            </a:r>
            <a:r>
              <a:rPr sz="850">
                <a:solidFill>
                  <a:srgbClr val="E6DCF5"/>
                </a:solidFill>
                <a:latin typeface="Calibri"/>
              </a:rPr>
              <a:t>NewsGuard (2023). The Year AI Supercharged Misinformation: NewsGuard's 2023 in Review.</a:t>
            </a:r>
          </a:p>
          <a:p>
            <a:pPr>
              <a:lnSpc>
                <a:spcPct val="98000"/>
              </a:lnSpc>
              <a:spcAft>
                <a:spcPts val="600"/>
              </a:spcAft>
            </a:pPr>
            <a:r>
              <a:rPr sz="850" b="1">
                <a:solidFill>
                  <a:srgbClr val="76F3FB"/>
                </a:solidFill>
                <a:latin typeface="Calibri"/>
              </a:rPr>
              <a:t>[13] </a:t>
            </a:r>
            <a:r>
              <a:rPr sz="850">
                <a:solidFill>
                  <a:srgbClr val="E6DCF5"/>
                </a:solidFill>
                <a:latin typeface="Calibri"/>
              </a:rPr>
              <a:t>Sadasivan, V. S., Kumar, A., Balasubramanian, S., Wang, W., &amp; Feizi, S. (2023). Can AI-Generated Text be Reliably Detected? arXiv:2303.11156.</a:t>
            </a:r>
          </a:p>
          <a:p>
            <a:pPr>
              <a:lnSpc>
                <a:spcPct val="98000"/>
              </a:lnSpc>
              <a:spcAft>
                <a:spcPts val="600"/>
              </a:spcAft>
            </a:pPr>
            <a:r>
              <a:rPr sz="850" b="1">
                <a:solidFill>
                  <a:srgbClr val="76F3FB"/>
                </a:solidFill>
                <a:latin typeface="Calibri"/>
              </a:rPr>
              <a:t>[14] </a:t>
            </a:r>
            <a:r>
              <a:rPr sz="850">
                <a:solidFill>
                  <a:srgbClr val="E6DCF5"/>
                </a:solidFill>
                <a:latin typeface="Calibri"/>
              </a:rPr>
              <a:t>Tian, E. (2023). GPTZero. gptzero.me.</a:t>
            </a:r>
          </a:p>
          <a:p>
            <a:pPr>
              <a:lnSpc>
                <a:spcPct val="98000"/>
              </a:lnSpc>
              <a:spcAft>
                <a:spcPts val="600"/>
              </a:spcAft>
            </a:pPr>
            <a:r>
              <a:rPr sz="850" b="1">
                <a:solidFill>
                  <a:srgbClr val="76F3FB"/>
                </a:solidFill>
                <a:latin typeface="Calibri"/>
              </a:rPr>
              <a:t>[15] </a:t>
            </a:r>
            <a:r>
              <a:rPr sz="850">
                <a:solidFill>
                  <a:srgbClr val="E6DCF5"/>
                </a:solidFill>
                <a:latin typeface="Calibri"/>
              </a:rPr>
              <a:t>Vaswani, A., Shazeer, N., Parmar, N., Uszkoreit, J., Jones, L., Gomez, A. N., et al. (2017). Attention is All You Need. arXiv:1706.03762.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17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45920" y="-1371600"/>
            <a:ext cx="4572000" cy="257175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560320"/>
            <a:ext cx="4572000" cy="2571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Vă mulțumesc pentru atenție!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76F3FB"/>
                </a:solidFill>
                <a:latin typeface="Calibri"/>
              </a:rPr>
              <a:t>Întrebări?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3383280"/>
            <a:ext cx="1417320" cy="1005840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3493008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5DF0B0"/>
                </a:solidFill>
                <a:latin typeface="Calibri"/>
              </a:rPr>
              <a:t>99.17%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977639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E6DCF5"/>
                </a:solidFill>
                <a:latin typeface="Calibri"/>
              </a:rPr>
              <a:t>Acuratețe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44952" y="3383280"/>
            <a:ext cx="1417320" cy="1005840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3493008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5DF0B0"/>
                </a:solidFill>
                <a:latin typeface="Calibri"/>
              </a:rPr>
              <a:t>45.834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3977639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E6DCF5"/>
                </a:solidFill>
                <a:latin typeface="Calibri"/>
              </a:rPr>
              <a:t>Exemple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72584" y="3383280"/>
            <a:ext cx="1417320" cy="1005840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2584" y="3493008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5DF0B0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4" y="3977639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E6DCF5"/>
                </a:solidFill>
                <a:latin typeface="Calibri"/>
              </a:rPr>
              <a:t>Modele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0216" y="3383280"/>
            <a:ext cx="1417320" cy="1005840"/>
          </a:xfrm>
          <a:prstGeom prst="roundRect">
            <a:avLst/>
          </a:prstGeom>
          <a:solidFill>
            <a:srgbClr val="352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3493008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5DF0B0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3977639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E6DCF5"/>
                </a:solidFill>
                <a:latin typeface="Calibri"/>
              </a:rPr>
              <a:t>Contribuții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