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474720"/>
          </a:xfrm>
          <a:prstGeom prst="rect">
            <a:avLst/>
          </a:prstGeom>
          <a:solidFill>
            <a:srgbClr val="0D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29000"/>
            <a:ext cx="12188952" cy="54864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483864"/>
            <a:ext cx="12188952" cy="182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99BB"/>
                </a:solidFill>
                <a:latin typeface="Calibri"/>
              </a:rPr>
              <a:t>Universitatea Națională de Știință și Tehnologie POLITEHNICA București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99BB"/>
                </a:solidFill>
                <a:latin typeface="Calibri"/>
              </a:rPr>
              <a:t>Facultatea Automatică și Calculatoare · Departamentul Automatică și Informatică Industrială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601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0D4FF"/>
                </a:solidFill>
                <a:latin typeface="Calibri"/>
              </a:rPr>
              <a:t>LUCRARE DE DIPLOMĂ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9319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99BB"/>
                </a:solidFill>
                <a:latin typeface="Calibri"/>
              </a:rPr>
              <a:t>Absolvent: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315968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Bianca-Ștefania GHEORGHE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3931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99BB"/>
                </a:solidFill>
                <a:latin typeface="Calibri"/>
              </a:rPr>
              <a:t>Coordonator: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31596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Conf.dr.ing. Daniel-Marian MEREZEANU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840480"/>
            <a:ext cx="27432" cy="11887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50749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8BFF"/>
                </a:solidFill>
                <a:latin typeface="Calibri"/>
              </a:rPr>
              <a:t>Sesiunea Iunie 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73152" cy="45720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457200" cy="73152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768328" y="0"/>
            <a:ext cx="73152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50040" y="0"/>
            <a:ext cx="457200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CUPRINS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D4FF"/>
                </a:solidFill>
                <a:latin typeface="Calibri"/>
              </a:rPr>
              <a:t>Structura prezentării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99BB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BB"/>
                </a:solidFill>
                <a:latin typeface="Calibri"/>
              </a:rPr>
              <a:t>2/18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502920" cy="5029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371600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39903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DFF"/>
                </a:solidFill>
                <a:latin typeface="Calibri"/>
              </a:rPr>
              <a:t>Contextul și motivația temei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993391"/>
            <a:ext cx="502920" cy="5029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039111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066543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DFF"/>
                </a:solidFill>
                <a:latin typeface="Calibri"/>
              </a:rPr>
              <a:t>Procesarea limbajului natural și modelele LLM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60904"/>
            <a:ext cx="502920" cy="5029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2706624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734056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DFF"/>
                </a:solidFill>
                <a:latin typeface="Calibri"/>
              </a:rPr>
              <a:t>Metode de detectare a textului generat de 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28415"/>
            <a:ext cx="502920" cy="5029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3374135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40156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DFF"/>
                </a:solidFill>
                <a:latin typeface="Calibri"/>
              </a:rPr>
              <a:t>Aplicații similare existente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95928"/>
            <a:ext cx="502920" cy="5029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4041648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06908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DFF"/>
                </a:solidFill>
                <a:latin typeface="Calibri"/>
              </a:rPr>
              <a:t>Metoda propusă – arhitectura soluției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663440"/>
            <a:ext cx="502920" cy="5029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4709159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73659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DFF"/>
                </a:solidFill>
                <a:latin typeface="Calibri"/>
              </a:rPr>
              <a:t>Setul de date utilizat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330952"/>
            <a:ext cx="502920" cy="5029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5376672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5404104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DFF"/>
                </a:solidFill>
                <a:latin typeface="Calibri"/>
              </a:rPr>
              <a:t>Implementare tehnică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325880"/>
            <a:ext cx="502920" cy="502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27648" y="1371600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03720" y="139903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DFF"/>
                </a:solidFill>
                <a:latin typeface="Calibri"/>
              </a:rPr>
              <a:t>Rezultate obținute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1993391"/>
            <a:ext cx="502920" cy="502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7648" y="2039111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2066543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DFF"/>
                </a:solidFill>
                <a:latin typeface="Calibri"/>
              </a:rPr>
              <a:t>Comparație cu instrumente comerciale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2660904"/>
            <a:ext cx="502920" cy="502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27648" y="2706624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2734056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DFF"/>
                </a:solidFill>
                <a:latin typeface="Calibri"/>
              </a:rPr>
              <a:t>Contribuții originale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3328415"/>
            <a:ext cx="502920" cy="502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27648" y="3374135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40156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DFF"/>
                </a:solidFill>
                <a:latin typeface="Calibri"/>
              </a:rPr>
              <a:t>Domenii de utilizare &amp; Dezvoltări ulterioare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3995928"/>
            <a:ext cx="502920" cy="502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27648" y="4041648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03720" y="406908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DFF"/>
                </a:solidFill>
                <a:latin typeface="Calibri"/>
              </a:rPr>
              <a:t>Concluzii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4663440"/>
            <a:ext cx="502920" cy="502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4709159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03720" y="473659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DFF"/>
                </a:solidFill>
                <a:latin typeface="Calibri"/>
              </a:rPr>
              <a:t>Bibliografie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1280160"/>
            <a:ext cx="27432" cy="502920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CONTEXTUL ȘI MOTIVAȚIA TEMEI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D4FF"/>
                </a:solidFill>
                <a:latin typeface="Calibri"/>
              </a:rPr>
              <a:t>De ce este importantă detectarea textului generat de AI?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99BB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BB"/>
                </a:solidFill>
                <a:latin typeface="Calibri"/>
              </a:rPr>
              <a:t>3/18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577840" cy="2560320"/>
          </a:xfrm>
          <a:prstGeom prst="rect">
            <a:avLst/>
          </a:prstGeom>
          <a:solidFill>
            <a:srgbClr val="12122E"/>
          </a:solidFill>
          <a:ln w="127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  <a:latin typeface="Calibri"/>
              </a:rPr>
              <a:t>Problema actuală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73352"/>
            <a:ext cx="5303520" cy="18288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37360"/>
            <a:ext cx="53035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• Modelele LLM (ChatGPT, GPT-4, Gemini) generează texte aproape
  indistinguibile de cele scrise de oameni
• Platformele sociale permit publicarea instantanee, fără filtrare
  editorială prealabilă
• 70% dintre utilizatori consideră necesară reglementarea AI
  (KPMG &amp; Univ. Melbourne, sondaj global 2025, 48.000+ respondenți)
• 64% sunt îngrijorați că AI poate influența alegerile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234440"/>
            <a:ext cx="5623560" cy="2560320"/>
          </a:xfrm>
          <a:prstGeom prst="rect">
            <a:avLst/>
          </a:prstGeom>
          <a:solidFill>
            <a:srgbClr val="12122E"/>
          </a:solidFill>
          <a:ln w="127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325880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8C00"/>
                </a:solidFill>
                <a:latin typeface="Calibri"/>
              </a:rPr>
              <a:t>Impact real documentat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673352"/>
            <a:ext cx="5349240" cy="18288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737360"/>
            <a:ext cx="53492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• Oct. 2023: articol fals despre aprobarea unui ETF Bitcoin a produs
  volatilitate pe piețele financiare
• Numărul site-urilor de știri false susținute de AI a crescut de 10×
  în 2023 (49 → 600+ domenii, fără supervizare umană)
• Factorul uman contribuie la 68% din incidentele de securitate
  cibernetică (Verizon DBIR 2024)
• &gt;1/3 din conținutul de pe Medium, Quora și Reddit (2022-2024)
  este generat de AI (Sun et al., 2024)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977639"/>
            <a:ext cx="11521440" cy="960120"/>
          </a:xfrm>
          <a:prstGeom prst="rect">
            <a:avLst/>
          </a:prstGeom>
          <a:solidFill>
            <a:srgbClr val="12122E"/>
          </a:solidFill>
          <a:ln w="127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041648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E676"/>
                </a:solidFill>
                <a:latin typeface="Calibri"/>
              </a:rPr>
              <a:t>De ce rețelele sociale reprezintă mediul cel mai vulnerabil?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31596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F"/>
                </a:solidFill>
                <a:latin typeface="Calibri"/>
              </a:rPr>
              <a:t>Texte scurte &amp; informale  ·  Publicare instantanee, fără filtrare  ·  Viteza propagării dezinformării  ·  Limbaj colocvial, abrevieri, greșeli gramaticale intenționate
→ metodele clasice de detectare, dezvoltate pentru texte formale și lungi, FUNCȚIONEAZĂ SLAB pe social media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07492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BFF"/>
                </a:solidFill>
                <a:latin typeface="Calibri"/>
              </a:rPr>
              <a:t>Scopul lucrării: analiza metodelor existente și propunerea unei soluții bazate pe machine learning, adaptată specific pentru texte scurte de social media.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PROCESAREA LIMBAJULUI NATURAL ȘI MODELELE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D4FF"/>
                </a:solidFill>
                <a:latin typeface="Calibri"/>
              </a:rPr>
              <a:t>Fundamentele teoretice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99BB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BB"/>
                </a:solidFill>
                <a:latin typeface="Calibri"/>
              </a:rPr>
              <a:t>4/18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11521440" cy="640080"/>
          </a:xfrm>
          <a:prstGeom prst="rect">
            <a:avLst/>
          </a:prstGeom>
          <a:solidFill>
            <a:srgbClr val="12122E"/>
          </a:solidFill>
          <a:ln w="127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298448"/>
            <a:ext cx="11155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NLP (Natural Language Processing)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536192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F"/>
                </a:solidFill>
                <a:latin typeface="Calibri"/>
              </a:rPr>
              <a:t>Subdomeniu AI care permite sistemelor informatice să înțeleagă, interpreteze și genereze text similar oamenilor. Sarcini: traducere automată, rezumare, analiză sentimente, clasificare.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011680"/>
            <a:ext cx="3611880" cy="2926080"/>
          </a:xfrm>
          <a:prstGeom prst="rect">
            <a:avLst/>
          </a:prstGeom>
          <a:solidFill>
            <a:srgbClr val="12122E"/>
          </a:solidFill>
          <a:ln w="127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10312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8BFF"/>
                </a:solidFill>
                <a:latin typeface="Calibri"/>
              </a:rPr>
              <a:t>Arhitectura Transformer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450592"/>
            <a:ext cx="3337560" cy="18288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514600"/>
            <a:ext cx="333756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• Vaswani et al. (2017) — revoluționează NLP
• Înlocuiește arhitecturile recurente
• Mecanism de self-attention: fiecare cuvânt
  interacționează direct cu oricare altul,
  indiferent de distanță
• Baza tuturor modelelor LLM moderne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2011680"/>
            <a:ext cx="3657600" cy="2926080"/>
          </a:xfrm>
          <a:prstGeom prst="rect">
            <a:avLst/>
          </a:prstGeom>
          <a:solidFill>
            <a:srgbClr val="12122E"/>
          </a:solidFill>
          <a:ln w="127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21031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  <a:latin typeface="Calibri"/>
              </a:rPr>
              <a:t>BERT / RoBERTa (Encoder)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2450592"/>
            <a:ext cx="3383280" cy="18288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0" y="2514600"/>
            <a:ext cx="338328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• BERT: procesare bidirecțională simultană
  (vezi întreg contextul înainte de predicție)
• Antrenare: Masked Language Modeling
  + Next Sentence Prediction
• Tokenizare: Byte-Pair Encoding (BPE)
• RoBERTa (Liu et al., 2019):
  BERT optimizat, performanțe superioare
  pe clasificare text
• 125 milioane parametri (RoBERTa-base)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2011680"/>
            <a:ext cx="3794760" cy="2926080"/>
          </a:xfrm>
          <a:prstGeom prst="rect">
            <a:avLst/>
          </a:prstGeom>
          <a:solidFill>
            <a:srgbClr val="12122E"/>
          </a:solidFill>
          <a:ln w="127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2103120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B5CF6"/>
                </a:solidFill>
                <a:latin typeface="Calibri"/>
              </a:rPr>
              <a:t>GPT-3 și modelele generative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83880" y="2450592"/>
            <a:ext cx="3520440" cy="18288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83880" y="2514600"/>
            <a:ext cx="3520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• Brown et al. (2020) — 175B parametri
• Model autoregresiv: generează token cu token
• Few-shot learning: rezolvă sarcini noi
  fără date de antrenament specifice
• Generează articole de știri pe care
  evaluatorii umani NU le pot distinge
  de cele scrise de oameni
• → necesitatea detectării automate!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" y="507492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99BB"/>
                </a:solidFill>
                <a:latin typeface="Calibri"/>
              </a:rPr>
              <a:t>Bommasani et al. (2022) - Foundation Models: riscul omogenizarii; orice bias dintr-un model de baza este mostenit de TOATE aplicatiile construite pe 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METODE DE DETECTARE A TEXTULUI GENERAT DE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D4FF"/>
                </a:solidFill>
                <a:latin typeface="Calibri"/>
              </a:rPr>
              <a:t>Categorii din literatura de specialitate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99BB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BB"/>
                </a:solidFill>
                <a:latin typeface="Calibri"/>
              </a:rPr>
              <a:t>5/18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577840" cy="2331720"/>
          </a:xfrm>
          <a:prstGeom prst="rect">
            <a:avLst/>
          </a:prstGeom>
          <a:solidFill>
            <a:srgbClr val="12122E"/>
          </a:solidFill>
          <a:ln w="127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8BFF"/>
                </a:solidFill>
                <a:latin typeface="Calibri"/>
              </a:rPr>
              <a:t>1. Metode statistice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73352"/>
            <a:ext cx="5303520" cy="18288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37360"/>
            <a:ext cx="5303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• Analizează perplexitatea, entropia, rangul log-probabilistic
• Text AI = perplexitate scăzută (modelul alege
  cuvintele cele mai probabile)
• GLTR (Gehrmann et al., 2019): colorează cuvintele
  după rangul în distribuția modelului
• ⚠ Nu necesită antrenare, DAR performează slab
  pe texte scurte și modele noi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234440"/>
            <a:ext cx="5577840" cy="2331720"/>
          </a:xfrm>
          <a:prstGeom prst="rect">
            <a:avLst/>
          </a:prstGeom>
          <a:solidFill>
            <a:srgbClr val="12122E"/>
          </a:solidFill>
          <a:ln w="127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3258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  <a:latin typeface="Calibri"/>
              </a:rPr>
              <a:t>2. Metode bazate pe Watermarking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673352"/>
            <a:ext cx="5303520" cy="18288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737360"/>
            <a:ext cx="5303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• Kirchenbauer et al. (2023): semnal ascuns
  introdus LA GENERARE
• Vocabularul impartit in lista verde (favorizata)
  si lista rosie (penalizata)
• Detecție cu rată de eroare foarte mică
• ⚠ Necesită cooperarea furnizorului modelului
⚠ Parafrazarea poate elimina semnalul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703320"/>
            <a:ext cx="5577840" cy="2331720"/>
          </a:xfrm>
          <a:prstGeom prst="rect">
            <a:avLst/>
          </a:prstGeom>
          <a:solidFill>
            <a:srgbClr val="12122E"/>
          </a:solidFill>
          <a:ln w="127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94759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B5CF6"/>
                </a:solidFill>
                <a:latin typeface="Calibri"/>
              </a:rPr>
              <a:t>3. Clasificatori supervizați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142231"/>
            <a:ext cx="5303520" cy="18288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206240"/>
            <a:ext cx="5303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• Învață să distingă text uman vs. AI din exemple etichetate
• Chakraborty et al. (2023): detectarea este aproape
  ÎNTOTDEAUNA posibilă cât timp există diferențe statistice
• RoBERTa fine-tuned: cea mai bună performanță
• ⚠ Depinde de calitatea datelor de antrenare
⚠ Necesită reantrenare pe modele noi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3703320"/>
            <a:ext cx="5577840" cy="2331720"/>
          </a:xfrm>
          <a:prstGeom prst="rect">
            <a:avLst/>
          </a:prstGeom>
          <a:solidFill>
            <a:srgbClr val="12122E"/>
          </a:solidFill>
          <a:ln w="127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794759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8C00"/>
                </a:solidFill>
                <a:latin typeface="Calibri"/>
              </a:rPr>
              <a:t>4. Metode zero-shot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4142231"/>
            <a:ext cx="5303520" cy="18288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4206240"/>
            <a:ext cx="5303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• DetectGPT (Mitchell et al., 2023): textul AI ocupa
  zone de curbura negativa in spatiul log-probabilitatii
• Perturbarea minoră a textului AI → scădere mai mare
  a log-probabilității decât pentru textul uman
• Avantaj: nu necesită date de antrenament
• ⚠ Necesită acces la un LLM similar celui generator
⚠ Performanță slabă pe texte scurte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APLICAȚII SIMILARE EXISTENTE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D4FF"/>
                </a:solidFill>
                <a:latin typeface="Calibri"/>
              </a:rPr>
              <a:t>Instrumente comerciale și limitările lor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99BB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BB"/>
                </a:solidFill>
                <a:latin typeface="Calibri"/>
              </a:rPr>
              <a:t>6/18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2212848" cy="3749039"/>
          </a:xfrm>
          <a:prstGeom prst="rect">
            <a:avLst/>
          </a:prstGeom>
          <a:solidFill>
            <a:srgbClr val="12122E"/>
          </a:solidFill>
          <a:ln w="1905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234440"/>
            <a:ext cx="2212848" cy="41148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252728"/>
            <a:ext cx="20299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GPTZero
(Edward Tian, 2023)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1719072"/>
            <a:ext cx="2029968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Perplexitate + Burstiness
• Proiectat pentru eseuri academice
• Slab pe texte scurte &amp; informale
• Parafrazarea reduce acuratețea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9192" y="1234440"/>
            <a:ext cx="2212848" cy="3749039"/>
          </a:xfrm>
          <a:prstGeom prst="rect">
            <a:avLst/>
          </a:prstGeom>
          <a:solidFill>
            <a:srgbClr val="1212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79192" y="1234440"/>
            <a:ext cx="2212848" cy="4114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70632" y="1252728"/>
            <a:ext cx="20299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ZeroGPT
(2023)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70632" y="1719072"/>
            <a:ext cx="2029968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Metode statistice combinate
• Metodologie nepublicată
• Rată ridicată fals-pozitive pe texte
  tehnice formale
• Gratuit, fără transparență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38344" y="1234440"/>
            <a:ext cx="2212848" cy="3749039"/>
          </a:xfrm>
          <a:prstGeom prst="rect">
            <a:avLst/>
          </a:prstGeom>
          <a:solidFill>
            <a:srgbClr val="12122E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38344" y="1234440"/>
            <a:ext cx="2212848" cy="41148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9783" y="1252728"/>
            <a:ext cx="20299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OpenAI Classifier
(Retras 2023)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9783" y="1719072"/>
            <a:ext cx="2029968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Fine-tuned pe perechi uman/AI
• Identifică corect doar 26% din
  textele AI
• Clasifică eronat 9% texte umane
• Retras în iulie 2023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97496" y="1234440"/>
            <a:ext cx="2212848" cy="3749039"/>
          </a:xfrm>
          <a:prstGeom prst="rect">
            <a:avLst/>
          </a:prstGeom>
          <a:solidFill>
            <a:srgbClr val="12122E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97496" y="1234440"/>
            <a:ext cx="2212848" cy="4114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88936" y="1252728"/>
            <a:ext cx="20299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Originality.ai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88936" y="1719072"/>
            <a:ext cx="2029968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AI + plagiat + lizibilitate
• Acuratețe: 76% în teste standardizate
• Detectează text AI parafrazat
• ⚠ Doar engleză, DOAR CU PLATĂ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756648" y="1234440"/>
            <a:ext cx="2212848" cy="3749039"/>
          </a:xfrm>
          <a:prstGeom prst="rect">
            <a:avLst/>
          </a:prstGeom>
          <a:solidFill>
            <a:srgbClr val="12122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56648" y="1234440"/>
            <a:ext cx="2212848" cy="41148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48088" y="1252728"/>
            <a:ext cx="20299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Sapling AI Detector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48088" y="1719072"/>
            <a:ext cx="2029968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Model neuronal + API REST
• Acuratețe: 68–87%
• 0 fals-pozitive în unele evaluări
• Disponibil pentru integrări
• Metodologie neclară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5120640"/>
            <a:ext cx="11521440" cy="685800"/>
          </a:xfrm>
          <a:prstGeom prst="rect">
            <a:avLst/>
          </a:prstGeom>
          <a:solidFill>
            <a:srgbClr val="12122E"/>
          </a:solidFill>
          <a:ln w="19050">
            <a:solidFill>
              <a:srgbClr val="FF3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16636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3B30"/>
                </a:solidFill>
                <a:latin typeface="Calibri"/>
              </a:rPr>
              <a:t>Limitare comună TUTUROR instrumentelor: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413248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F"/>
                </a:solidFill>
                <a:latin typeface="Calibri"/>
              </a:rPr>
              <a:t>Au fost proiectate și evaluate pe texte lungi și formale (eseuri, articole). Performanța pe texte scurte și informale, tipice rețelelor sociale, este semnificativ mai slabă. → Aceasta este motivația directă a soluției propuse în această lucrare.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LIMITĂRI ALE METODELOR EXISTENTE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D4FF"/>
                </a:solidFill>
                <a:latin typeface="Calibri"/>
              </a:rPr>
              <a:t>De ce metodele actuale nu sunt suficiente?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99BB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BB"/>
                </a:solidFill>
                <a:latin typeface="Calibri"/>
              </a:rPr>
              <a:t>7/18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73152" cy="82296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11338560" cy="822960"/>
          </a:xfrm>
          <a:prstGeom prst="rect">
            <a:avLst/>
          </a:prstGeom>
          <a:solidFill>
            <a:srgbClr val="12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0759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3B30"/>
                </a:solidFill>
                <a:latin typeface="Calibri"/>
              </a:rPr>
              <a:t>Parafrazarea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45919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F"/>
                </a:solidFill>
                <a:latin typeface="Calibri"/>
              </a:rPr>
              <a:t>Krishna et al. (2023) demonstrează că un simplu pas de parafrazare automată poate reduce rata de detecție de la peste 90% la sub 50%, făcând detectorul practic inutil.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313432"/>
            <a:ext cx="73152" cy="8229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313432"/>
            <a:ext cx="11338560" cy="822960"/>
          </a:xfrm>
          <a:prstGeom prst="rect">
            <a:avLst/>
          </a:prstGeom>
          <a:solidFill>
            <a:srgbClr val="12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59151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C00"/>
                </a:solidFill>
                <a:latin typeface="Calibri"/>
              </a:rPr>
              <a:t>Limita fundamentală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697479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F"/>
                </a:solidFill>
                <a:latin typeface="Calibri"/>
              </a:rPr>
              <a:t>Sadasivan et al. (2023): pe măsură ce modelele LLM devin mai performante, detectarea fiabilă devine teoretic tot mai dificilă. Există o limită determinată de distanța totală de variație între distribuțiile textului uman și AI.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364991"/>
            <a:ext cx="73152" cy="8229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364991"/>
            <a:ext cx="11338560" cy="822960"/>
          </a:xfrm>
          <a:prstGeom prst="rect">
            <a:avLst/>
          </a:prstGeom>
          <a:solidFill>
            <a:srgbClr val="12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410711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Texte scurte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49039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F"/>
                </a:solidFill>
                <a:latin typeface="Calibri"/>
              </a:rPr>
              <a:t>Majoritatea metodelor existente performează semnificativ mai bine pe texte lungi. Pe textele scurte tipice social media (50-500 caractere), diferențele statistice dintre textul uman și AI devin mai greu de detectat.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4416552"/>
            <a:ext cx="73152" cy="8229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416552"/>
            <a:ext cx="11338560" cy="822960"/>
          </a:xfrm>
          <a:prstGeom prst="rect">
            <a:avLst/>
          </a:prstGeom>
          <a:solidFill>
            <a:srgbClr val="12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46227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B5CF6"/>
                </a:solidFill>
                <a:latin typeface="Calibri"/>
              </a:rPr>
              <a:t>Problema domeniului de antrenare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80060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F"/>
                </a:solidFill>
                <a:latin typeface="Calibri"/>
              </a:rPr>
              <a:t>Detectori antrenați pe texte formale (articole academice, știri, eseuri) generalizează slab pe texte informale de social media: abrevieri, emoticoane, greșeli gramaticale voite, limbaj colocvial.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5468112"/>
            <a:ext cx="73152" cy="82296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468112"/>
            <a:ext cx="11338560" cy="822960"/>
          </a:xfrm>
          <a:prstGeom prst="rect">
            <a:avLst/>
          </a:prstGeom>
          <a:solidFill>
            <a:srgbClr val="12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513831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8BFF"/>
                </a:solidFill>
                <a:latin typeface="Calibri"/>
              </a:rPr>
              <a:t>Transferabilitate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852159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F"/>
                </a:solidFill>
                <a:latin typeface="Calibri"/>
              </a:rPr>
              <a:t>Un detector antrenat pe texte GPT-3 poate funcționa slab pe texte produse de LLaMA sau Gemini. Fiecare model generativ are propriile tipare stilistice.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METODA PROPUSĂ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D4FF"/>
                </a:solidFill>
                <a:latin typeface="Calibri"/>
              </a:rPr>
              <a:t>Arhitectura sistemului de detectare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99BB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BB"/>
                </a:solidFill>
                <a:latin typeface="Calibri"/>
              </a:rPr>
              <a:t>8/18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80160"/>
            <a:ext cx="1645920" cy="1005840"/>
          </a:xfrm>
          <a:prstGeom prst="rect">
            <a:avLst/>
          </a:prstGeom>
          <a:solidFill>
            <a:srgbClr val="12122E"/>
          </a:solidFill>
          <a:ln w="254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53312"/>
            <a:ext cx="1508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8BFF"/>
                </a:solidFill>
                <a:latin typeface="Calibri"/>
              </a:rPr>
              <a:t>Colectare &amp;
Filtrare date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9968" y="169164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8899BB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04288" y="1280160"/>
            <a:ext cx="1645920" cy="1005840"/>
          </a:xfrm>
          <a:prstGeom prst="rect">
            <a:avLst/>
          </a:prstGeom>
          <a:solidFill>
            <a:srgbClr val="1212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1353312"/>
            <a:ext cx="1508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FF"/>
                </a:solidFill>
                <a:latin typeface="Calibri"/>
              </a:rPr>
              <a:t>Preprocesare
Diferențiată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8496" y="169164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8899BB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2816" y="1280160"/>
            <a:ext cx="1645920" cy="1005840"/>
          </a:xfrm>
          <a:prstGeom prst="rect">
            <a:avLst/>
          </a:prstGeom>
          <a:solidFill>
            <a:srgbClr val="12122E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15968" y="1353312"/>
            <a:ext cx="1508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B5CF6"/>
                </a:solidFill>
                <a:latin typeface="Calibri"/>
              </a:rPr>
              <a:t>Împărțire
Stratificată
70/15/15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7024" y="169164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8899BB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1344" y="1280160"/>
            <a:ext cx="1645920" cy="1005840"/>
          </a:xfrm>
          <a:prstGeom prst="rect">
            <a:avLst/>
          </a:prstGeom>
          <a:solidFill>
            <a:srgbClr val="12122E"/>
          </a:solidFill>
          <a:ln w="254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54496" y="1353312"/>
            <a:ext cx="1508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8C00"/>
                </a:solidFill>
                <a:latin typeface="Calibri"/>
              </a:rPr>
              <a:t>Antrenare
Paralelă
3 modele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45552" y="169164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8899BB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1280160"/>
            <a:ext cx="1645920" cy="1005840"/>
          </a:xfrm>
          <a:prstGeom prst="rect">
            <a:avLst/>
          </a:prstGeom>
          <a:solidFill>
            <a:srgbClr val="12122E"/>
          </a:solidFill>
          <a:ln w="254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93024" y="1353312"/>
            <a:ext cx="1508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E676"/>
                </a:solidFill>
                <a:latin typeface="Calibri"/>
              </a:rPr>
              <a:t>Evaluare
Comparativă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169164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8899BB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0" y="1280160"/>
            <a:ext cx="1645920" cy="1005840"/>
          </a:xfrm>
          <a:prstGeom prst="rect">
            <a:avLst/>
          </a:prstGeom>
          <a:solidFill>
            <a:srgbClr val="12122E"/>
          </a:solidFill>
          <a:ln w="254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31552" y="1353312"/>
            <a:ext cx="1508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8BFF"/>
                </a:solidFill>
                <a:latin typeface="Calibri"/>
              </a:rPr>
              <a:t>Salvare modele
+ Aplicație web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2514600"/>
            <a:ext cx="3611880" cy="2697480"/>
          </a:xfrm>
          <a:prstGeom prst="rect">
            <a:avLst/>
          </a:prstGeom>
          <a:solidFill>
            <a:srgbClr val="12122E"/>
          </a:solidFill>
          <a:ln w="127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260604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  <a:latin typeface="Calibri"/>
              </a:rPr>
              <a:t>Naive Bayes (clasic)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2953512"/>
            <a:ext cx="3337560" cy="18288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017520"/>
            <a:ext cx="33375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• TF-IDF: vocabular 10.000 termeni,
  n-grame 1–2, normalizare sublineară
• Rapid și interpretabil
• Serveste ca baseline (linie de bază)
• Acuratețe: 94.24% pe setul de test
• Antrenare: &lt; 2 minute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60520" y="2514600"/>
            <a:ext cx="3858768" cy="2697480"/>
          </a:xfrm>
          <a:prstGeom prst="rect">
            <a:avLst/>
          </a:prstGeom>
          <a:solidFill>
            <a:srgbClr val="12122E"/>
          </a:solidFill>
          <a:ln w="127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97680" y="2606040"/>
            <a:ext cx="35844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B5CF6"/>
                </a:solidFill>
                <a:latin typeface="Calibri"/>
              </a:rPr>
              <a:t>Regresie Logistică (clasic)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97680" y="2953512"/>
            <a:ext cx="3584448" cy="18288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97680" y="3017520"/>
            <a:ext cx="3584448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• TF-IDF + regularizare
• Echilibru bun performanță/interpretabilitate
• Precizie ridicată (98.11%) — puține
  fals-pozitive
• Acuratețe: 96.71%
• Alternativă viabilă fără GPU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47888" y="2514600"/>
            <a:ext cx="3611880" cy="2697480"/>
          </a:xfrm>
          <a:prstGeom prst="rect">
            <a:avLst/>
          </a:prstGeom>
          <a:solidFill>
            <a:srgbClr val="12122E"/>
          </a:solidFill>
          <a:ln w="127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85048" y="260604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8BFF"/>
                </a:solidFill>
                <a:latin typeface="Calibri"/>
              </a:rPr>
              <a:t>RoBERTa Fine-tuned (DL)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85048" y="2953512"/>
            <a:ext cx="3337560" cy="18288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85048" y="3017520"/>
            <a:ext cx="33375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• 125 milioane parametri (RoBERTa-base)
• Fine-tuning: 3 epoci, GPU Tesla T4
• Tokenizare BPE, max 128 tokeni
• Early stopping pe F1-score
• Acuratețe: 99.17% ✓ (model principal)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" y="534924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99BB"/>
                </a:solidFill>
                <a:latin typeface="Calibri"/>
              </a:rPr>
              <a:t>Motivație: Naive Bayes și Regresia Logistică servesc ca baseline. Compararea celor 3 modele pe același set de date permite alegerea justificată a modelului potrivit pentru contextul de utilizare.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SETUL DE 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D4FF"/>
                </a:solidFill>
                <a:latin typeface="Calibri"/>
              </a:rPr>
              <a:t>Construcție și caracteristici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99BB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BB"/>
                </a:solidFill>
                <a:latin typeface="Calibri"/>
              </a:rPr>
              <a:t>9/18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11521440" cy="384048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" y="126187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Sursă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261872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Clasă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28416" y="1261872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Exemple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261872"/>
            <a:ext cx="6675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Motivație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664208"/>
            <a:ext cx="11521440" cy="594360"/>
          </a:xfrm>
          <a:prstGeom prst="rect">
            <a:avLst/>
          </a:prstGeom>
          <a:solidFill>
            <a:srgbClr val="12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1664208"/>
            <a:ext cx="11521440" cy="594360"/>
          </a:xfrm>
          <a:prstGeom prst="rect">
            <a:avLst/>
          </a:prstGeom>
          <a:noFill/>
          <a:ln w="6350">
            <a:solidFill>
              <a:srgbClr val="22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" y="1737360"/>
            <a:ext cx="193852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D4FF"/>
                </a:solidFill>
                <a:latin typeface="Calibri"/>
              </a:rPr>
              <a:t>HC3 Reddit ELI5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0592" y="1737360"/>
            <a:ext cx="749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Mixt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128" y="1737360"/>
            <a:ext cx="1024127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4.040 + 629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1737360"/>
            <a:ext cx="66934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Perechi uman/AI pe aceleași întrebări → elimină variabilele de conținut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276856"/>
            <a:ext cx="11521440" cy="594360"/>
          </a:xfrm>
          <a:prstGeom prst="rect">
            <a:avLst/>
          </a:prstGeom>
          <a:solidFill>
            <a:srgbClr val="0A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2276856"/>
            <a:ext cx="11521440" cy="594360"/>
          </a:xfrm>
          <a:prstGeom prst="rect">
            <a:avLst/>
          </a:prstGeom>
          <a:noFill/>
          <a:ln w="6350">
            <a:solidFill>
              <a:srgbClr val="22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904" y="2350008"/>
            <a:ext cx="193852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D4FF"/>
                </a:solidFill>
                <a:latin typeface="Calibri"/>
              </a:rPr>
              <a:t>TweetEval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0592" y="2350008"/>
            <a:ext cx="749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Uman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10128" y="2350008"/>
            <a:ext cx="1024127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8.176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62272" y="2350008"/>
            <a:ext cx="66934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Benchmark academic, tweets reale, 7 categorii distincte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2889504"/>
            <a:ext cx="11521440" cy="594360"/>
          </a:xfrm>
          <a:prstGeom prst="rect">
            <a:avLst/>
          </a:prstGeom>
          <a:solidFill>
            <a:srgbClr val="12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2889504"/>
            <a:ext cx="11521440" cy="594360"/>
          </a:xfrm>
          <a:prstGeom prst="rect">
            <a:avLst/>
          </a:prstGeom>
          <a:noFill/>
          <a:ln w="6350">
            <a:solidFill>
              <a:srgbClr val="22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4904" y="2962656"/>
            <a:ext cx="193852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D4FF"/>
                </a:solidFill>
                <a:latin typeface="Calibri"/>
              </a:rPr>
              <a:t>Reddit comentarii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50592" y="2962656"/>
            <a:ext cx="749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Uman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0128" y="2962656"/>
            <a:ext cx="1024127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4.058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2272" y="2962656"/>
            <a:ext cx="66934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Limbaj conversațional, argou, ironii, referințe culturale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3502152"/>
            <a:ext cx="11521440" cy="594360"/>
          </a:xfrm>
          <a:prstGeom prst="rect">
            <a:avLst/>
          </a:prstGeom>
          <a:solidFill>
            <a:srgbClr val="0A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0040" y="3502152"/>
            <a:ext cx="11521440" cy="594360"/>
          </a:xfrm>
          <a:prstGeom prst="rect">
            <a:avLst/>
          </a:prstGeom>
          <a:noFill/>
          <a:ln w="6350">
            <a:solidFill>
              <a:srgbClr val="22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4904" y="3575304"/>
            <a:ext cx="193852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D4FF"/>
                </a:solidFill>
                <a:latin typeface="Calibri"/>
              </a:rPr>
              <a:t>RAID (2024)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50592" y="3575304"/>
            <a:ext cx="749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AI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10128" y="3575304"/>
            <a:ext cx="1024127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7.771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62272" y="3575304"/>
            <a:ext cx="66934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Texte generate de GPT-4, LLaMA, Mistral — diversitate stilistică AI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4114800"/>
            <a:ext cx="11521440" cy="594360"/>
          </a:xfrm>
          <a:prstGeom prst="rect">
            <a:avLst/>
          </a:prstGeom>
          <a:solidFill>
            <a:srgbClr val="12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20040" y="4114800"/>
            <a:ext cx="11521440" cy="594360"/>
          </a:xfrm>
          <a:prstGeom prst="rect">
            <a:avLst/>
          </a:prstGeom>
          <a:noFill/>
          <a:ln w="6350">
            <a:solidFill>
              <a:srgbClr val="22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4904" y="4187952"/>
            <a:ext cx="193852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D4FF"/>
                </a:solidFill>
                <a:latin typeface="Calibri"/>
              </a:rPr>
              <a:t>AI_Human.csv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50592" y="4187952"/>
            <a:ext cx="749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Mixt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10128" y="4187952"/>
            <a:ext cx="1024127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20.548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62272" y="4187952"/>
            <a:ext cx="66934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Texte mai formale — volum și diversitate tematică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4727448"/>
            <a:ext cx="11521440" cy="594360"/>
          </a:xfrm>
          <a:prstGeom prst="rect">
            <a:avLst/>
          </a:prstGeom>
          <a:solidFill>
            <a:srgbClr val="0A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20040" y="4727448"/>
            <a:ext cx="11521440" cy="594360"/>
          </a:xfrm>
          <a:prstGeom prst="rect">
            <a:avLst/>
          </a:prstGeom>
          <a:noFill/>
          <a:ln w="6350">
            <a:solidFill>
              <a:srgbClr val="22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74904" y="4800600"/>
            <a:ext cx="193852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D4FF"/>
                </a:solidFill>
                <a:latin typeface="Calibri"/>
              </a:rPr>
              <a:t>AI Detection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50592" y="4800600"/>
            <a:ext cx="749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AI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10128" y="4800600"/>
            <a:ext cx="1024127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612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62272" y="4800600"/>
            <a:ext cx="66934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Texte AI suplimentare pentru diversitate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0040" y="5376672"/>
            <a:ext cx="11521440" cy="685800"/>
          </a:xfrm>
          <a:prstGeom prst="rect">
            <a:avLst/>
          </a:prstGeom>
          <a:solidFill>
            <a:srgbClr val="12122E"/>
          </a:solidFill>
          <a:ln w="127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53949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E676"/>
                </a:solidFill>
                <a:latin typeface="Calibri"/>
              </a:rPr>
              <a:t>78.961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742432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9BB"/>
                </a:solidFill>
                <a:latin typeface="Calibri"/>
              </a:rPr>
              <a:t>exemple înainte de echilibrare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26080" y="53949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E676"/>
                </a:solidFill>
                <a:latin typeface="Calibri"/>
              </a:rPr>
              <a:t>45.834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26080" y="5742432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9BB"/>
                </a:solidFill>
                <a:latin typeface="Calibri"/>
              </a:rPr>
              <a:t>exemple finale (echilibrate)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12080" y="53949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E676"/>
                </a:solidFill>
                <a:latin typeface="Calibri"/>
              </a:rPr>
              <a:t>50/50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5742432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9BB"/>
                </a:solidFill>
                <a:latin typeface="Calibri"/>
              </a:rPr>
              <a:t>uman / AI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79" y="53949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E676"/>
                </a:solidFill>
                <a:latin typeface="Calibri"/>
              </a:rPr>
              <a:t>50–500
caractere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98079" y="5742432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9BB"/>
                </a:solidFill>
                <a:latin typeface="Calibri"/>
              </a:rPr>
              <a:t>lungime filtrată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84080" y="53949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E676"/>
                </a:solidFill>
                <a:latin typeface="Calibri"/>
              </a:rPr>
              <a:t>70/15/15%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84080" y="5742432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99BB"/>
                </a:solidFill>
                <a:latin typeface="Calibri"/>
              </a:rPr>
              <a:t>train / val / test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IMPLEMENTARE TEHNICĂ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D4FF"/>
                </a:solidFill>
                <a:latin typeface="Calibri"/>
              </a:rPr>
              <a:t>Stack tehnologic și arhitectura aplicației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99BB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BB"/>
                </a:solidFill>
                <a:latin typeface="Calibri"/>
              </a:rPr>
              <a:t>10/18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2788920" cy="3520440"/>
          </a:xfrm>
          <a:prstGeom prst="rect">
            <a:avLst/>
          </a:prstGeom>
          <a:solidFill>
            <a:srgbClr val="12122E"/>
          </a:solidFill>
          <a:ln w="127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8BFF"/>
                </a:solidFill>
                <a:latin typeface="Calibri"/>
              </a:rPr>
              <a:t>Date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73352"/>
            <a:ext cx="2514600" cy="18288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37360"/>
            <a:ext cx="2514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• Python 3.10
• pandas — filtrare, deduplicare, echilibrare
• datasets (Hugging Face) — streaming
  (RAID &gt; RAM disponibil)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64408" y="1234440"/>
            <a:ext cx="2788920" cy="3520440"/>
          </a:xfrm>
          <a:prstGeom prst="rect">
            <a:avLst/>
          </a:prstGeom>
          <a:solidFill>
            <a:srgbClr val="12122E"/>
          </a:solidFill>
          <a:ln w="127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32588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  <a:latin typeface="Calibri"/>
              </a:rPr>
              <a:t>ML Clasic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01568" y="1673352"/>
            <a:ext cx="2514600" cy="18288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01568" y="1737360"/>
            <a:ext cx="2514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• scikit-learn — NB, LR
• TfidfVectorizer: vocabular 10.000,
  ngram_range=(1,2), sublinear_tf=True
• Evaluare: sklearn.metrics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8776" y="1234440"/>
            <a:ext cx="2788920" cy="3520440"/>
          </a:xfrm>
          <a:prstGeom prst="rect">
            <a:avLst/>
          </a:prstGeom>
          <a:solidFill>
            <a:srgbClr val="12122E"/>
          </a:solidFill>
          <a:ln w="127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5936" y="132588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B5CF6"/>
                </a:solidFill>
                <a:latin typeface="Calibri"/>
              </a:rPr>
              <a:t>Deep Learning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45936" y="1673352"/>
            <a:ext cx="2514600" cy="18288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1737360"/>
            <a:ext cx="2514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• PyTorch 2.x — GPU operations
• Transformers HuggingFace 4.x
  (RoBERTa, Trainer, Tokenizer)
• FP16 mixed precision → ↓ memorie GPU
• NLTK — eliminare cuvinte stop
• SpaCy 3.x — Named Entity Recognition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53144" y="1234440"/>
            <a:ext cx="2788920" cy="3520440"/>
          </a:xfrm>
          <a:prstGeom prst="rect">
            <a:avLst/>
          </a:prstGeom>
          <a:solidFill>
            <a:srgbClr val="12122E"/>
          </a:solidFill>
          <a:ln w="127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90304" y="132588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E676"/>
                </a:solidFill>
                <a:latin typeface="Calibri"/>
              </a:rPr>
              <a:t>Aplicație web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90304" y="1673352"/>
            <a:ext cx="2514600" cy="18288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0304" y="1737360"/>
            <a:ext cx="2514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• Flask 3.x — API REST:
  /predict și /batch
• HTML / CSS / JavaScript
• Chart.js 4.x — grafice cerc și bară
• Flask-CORS pentru cross-origin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4892040"/>
            <a:ext cx="11521440" cy="868680"/>
          </a:xfrm>
          <a:prstGeom prst="rect">
            <a:avLst/>
          </a:prstGeom>
          <a:solidFill>
            <a:srgbClr val="12122E"/>
          </a:solidFill>
          <a:ln w="127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93776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C00"/>
                </a:solidFill>
                <a:latin typeface="Calibri"/>
              </a:rPr>
              <a:t>Mediu hardware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212080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  <a:latin typeface="Calibri"/>
              </a:rPr>
              <a:t>ANTRENARE: Google Colaboratory — GPU NVIDIA Tesla T4, 15.6 GB VRAM GDDR6, precizie mixtă FP16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212080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  <a:latin typeface="Calibri"/>
              </a:rPr>
              <a:t>Timp antrenare RoBERTa: ~85 min (3 epoci, 3.009 pași).  Modele clasice: &lt; 2 min.   RAM sistem: 12.7 GB.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212080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  <a:latin typeface="Calibri"/>
              </a:rPr>
              <a:t>INFERENȚĂ: CPU local (laptop).  RoBERTa: 0.5–2 sec/text.  Modele salvate: RoBERTa 502 MB, NB 313 KB, LR 78 KB, TF-IDF 394 KB.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PREPROCESARE ȘI COMPONENTE AVANSATE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D4FF"/>
                </a:solidFill>
                <a:latin typeface="Calibri"/>
              </a:rPr>
              <a:t>Detalii de implementare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99BB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BB"/>
                </a:solidFill>
                <a:latin typeface="Calibri"/>
              </a:rPr>
              <a:t>11/18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5303520" cy="2286000"/>
          </a:xfrm>
          <a:prstGeom prst="rect">
            <a:avLst/>
          </a:prstGeom>
          <a:solidFill>
            <a:srgbClr val="12122E"/>
          </a:solidFill>
          <a:ln w="127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8BFF"/>
                </a:solidFill>
                <a:latin typeface="Calibri"/>
              </a:rPr>
              <a:t>Preprocesare diferențiată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00784"/>
            <a:ext cx="5029200" cy="18288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64792"/>
            <a:ext cx="50292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• clean_for_nb (Naive Bayes / LR):
  → litere mici → elimină URL, @user, #hashtag
  → doar caractere alfabetice
  → elimină cuvinte stop (NLTK)
• clean_for_roberta (RoBERTa):
  → URL → [URL], @user → [USER]
  → păstrează structura textuală
  → max 128 tokeni BPE
• Inconsistența între antrenare și inferență
  produce degradare silențioasă → identic!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1261872"/>
            <a:ext cx="5989320" cy="2286000"/>
          </a:xfrm>
          <a:prstGeom prst="rect">
            <a:avLst/>
          </a:prstGeom>
          <a:solidFill>
            <a:srgbClr val="12122E"/>
          </a:solidFill>
          <a:ln w="127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353312"/>
            <a:ext cx="5715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D4FF"/>
                </a:solidFill>
                <a:latin typeface="Calibri"/>
              </a:rPr>
              <a:t>Leave-One-Out — justificarea deciziei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1700784"/>
            <a:ext cx="5715000" cy="18288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764792"/>
            <a:ext cx="57150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• Elimină pe rând fiecare cuvânt din text
• Măsoară modificarea probabilității predicției
• Cuvinte cu impact pozitiv → indicator spre AI
• Cuvinte cu impact negativ → indicator spre uman
• Implementat pentru TOATE cele 3 modele
  (NB: feature_log_prob_; LR: coef_)
• Avantaj față de toate instrumentele comerciale:
  justificare la nivel de cuvânt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703320"/>
            <a:ext cx="5303520" cy="2331720"/>
          </a:xfrm>
          <a:prstGeom prst="rect">
            <a:avLst/>
          </a:prstGeom>
          <a:solidFill>
            <a:srgbClr val="12122E"/>
          </a:solidFill>
          <a:ln w="127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9475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B5CF6"/>
                </a:solidFill>
                <a:latin typeface="Calibri"/>
              </a:rPr>
              <a:t>Scorul agregat de risc (0–100)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142231"/>
            <a:ext cx="5029200" cy="18288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206240"/>
            <a:ext cx="5029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• RoBERTa score: 60% din total (max 60 pct)
• Fraze tipice AI detectate: max 25 pct
  (5 pct/frază): "it is worth noting",
  "furthermore", "în concluzie" etc.
• Profil statistic vocabular: max 15 pct
  (TTR, % cuvinte comune, lungime medie propoziții)
• Vizualizare: indicator circular animat
  Verde(0-39) · Galben(40-69) · Roșu(70-100)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0" y="3703320"/>
            <a:ext cx="5989320" cy="2331720"/>
          </a:xfrm>
          <a:prstGeom prst="rect">
            <a:avLst/>
          </a:prstGeom>
          <a:solidFill>
            <a:srgbClr val="12122E"/>
          </a:solidFill>
          <a:ln w="127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794759"/>
            <a:ext cx="5715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E676"/>
                </a:solidFill>
                <a:latin typeface="Calibri"/>
              </a:rPr>
              <a:t>Alte componente ale aplicației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89320" y="4142231"/>
            <a:ext cx="5715000" cy="18288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89320" y="4206240"/>
            <a:ext cx="5715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• Analiză per propoziție: colorare pe 5 niveluri
  (AI puternic → uman puternic)
• NER (SpaCy en_core_web_sm): persoane,
  organizații, locații, date
• Comparație simultană 3 modele:
  switchView fără apel suplimentar la server
• Batch CSV: procesare până la 500 texte,
  export rezultate CSV
• Istoric sesiune: ultimele 10 analize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REZULTATELE OBȚINUTE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D4FF"/>
                </a:solidFill>
                <a:latin typeface="Calibri"/>
              </a:rPr>
              <a:t>Evaluare pe setul de test (6.876 exemple, 50/50 uman/AI)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99BB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BB"/>
                </a:solidFill>
                <a:latin typeface="Calibri"/>
              </a:rPr>
              <a:t>12/18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11064240" cy="41148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261872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18688" y="1261872"/>
            <a:ext cx="1874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Acuratețe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5231" y="1261872"/>
            <a:ext cx="1874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F1-Score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1261872"/>
            <a:ext cx="1874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Precision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36608" y="1261872"/>
            <a:ext cx="1874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Recall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1682496"/>
            <a:ext cx="11064240" cy="658368"/>
          </a:xfrm>
          <a:prstGeom prst="rect">
            <a:avLst/>
          </a:prstGeom>
          <a:solidFill>
            <a:srgbClr val="12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040" y="1682496"/>
            <a:ext cx="54864" cy="65836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" y="1810512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D4FF"/>
                </a:solidFill>
                <a:latin typeface="Calibri"/>
              </a:rPr>
              <a:t>Naive Bayes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8688" y="1810512"/>
            <a:ext cx="1874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94.24%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5231" y="1810512"/>
            <a:ext cx="1874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94.17%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1810512"/>
            <a:ext cx="1874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95.35%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36608" y="1810512"/>
            <a:ext cx="1874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93.02%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368296"/>
            <a:ext cx="11064240" cy="658368"/>
          </a:xfrm>
          <a:prstGeom prst="rect">
            <a:avLst/>
          </a:prstGeom>
          <a:solidFill>
            <a:srgbClr val="0A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2368296"/>
            <a:ext cx="54864" cy="65836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79" y="2496312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D4FF"/>
                </a:solidFill>
                <a:latin typeface="Calibri"/>
              </a:rPr>
              <a:t>Regresie Logistică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18688" y="2496312"/>
            <a:ext cx="1874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96.71%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5231" y="2496312"/>
            <a:ext cx="1874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96.66%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2496312"/>
            <a:ext cx="1874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98.11%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36608" y="2496312"/>
            <a:ext cx="1874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95.26%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054096"/>
            <a:ext cx="11064240" cy="658368"/>
          </a:xfrm>
          <a:prstGeom prst="rect">
            <a:avLst/>
          </a:prstGeom>
          <a:solidFill>
            <a:srgbClr val="12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0040" y="3054096"/>
            <a:ext cx="54864" cy="658368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79" y="3182112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D4FF"/>
                </a:solidFill>
                <a:latin typeface="Calibri"/>
              </a:rPr>
              <a:t>RoBERTa Fine-tuned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18688" y="3182112"/>
            <a:ext cx="1874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E676"/>
                </a:solidFill>
                <a:latin typeface="Calibri"/>
              </a:rPr>
              <a:t>99.17%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85231" y="3182112"/>
            <a:ext cx="1874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E676"/>
                </a:solidFill>
                <a:latin typeface="Calibri"/>
              </a:rPr>
              <a:t>99.18%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60920" y="3182112"/>
            <a:ext cx="1874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E676"/>
                </a:solidFill>
                <a:latin typeface="Calibri"/>
              </a:rPr>
              <a:t>98.56%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36608" y="3182112"/>
            <a:ext cx="1874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E676"/>
                </a:solidFill>
                <a:latin typeface="Calibri"/>
              </a:rPr>
              <a:t>99.80%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3749039"/>
            <a:ext cx="5303520" cy="1508760"/>
          </a:xfrm>
          <a:prstGeom prst="rect">
            <a:avLst/>
          </a:prstGeom>
          <a:solidFill>
            <a:srgbClr val="12122E"/>
          </a:solidFill>
          <a:ln w="127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3794760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E676"/>
                </a:solidFill>
                <a:latin typeface="Calibri"/>
              </a:rPr>
              <a:t>Confusion Matrix RoBERTa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4096512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F"/>
                </a:solidFill>
                <a:latin typeface="Calibri"/>
              </a:rPr>
              <a:t>✓  3.388 texte umane clasificate CORECT
✓  3.431 texte AI clasificate CORECT
⚠  50 fals-pozitive (texte umane clasificate ca AI)
⚠  7 fals-negative (texte AI clasificate ca umane)
→ Toate erorile provin din texte formale (ai_human_csv)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52160" y="3749039"/>
            <a:ext cx="5532120" cy="1508760"/>
          </a:xfrm>
          <a:prstGeom prst="rect">
            <a:avLst/>
          </a:prstGeom>
          <a:solidFill>
            <a:srgbClr val="12122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35040" y="3794760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  <a:latin typeface="Calibri"/>
              </a:rPr>
              <a:t>Acuratețe RoBERTa pe surse social media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0" y="4114800"/>
            <a:ext cx="4114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• TweetEval extra (human)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0" y="4114800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0E676"/>
                </a:solidFill>
                <a:latin typeface="Calibri"/>
              </a:rPr>
              <a:t>100%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5040" y="4343400"/>
            <a:ext cx="4114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• Reddit ELI5 (human + AI)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0" y="4343400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0E676"/>
                </a:solidFill>
                <a:latin typeface="Calibri"/>
              </a:rPr>
              <a:t>100%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35040" y="4572000"/>
            <a:ext cx="4114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• Twitter human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0" y="4572000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0E676"/>
                </a:solidFill>
                <a:latin typeface="Calibri"/>
              </a:rPr>
              <a:t>99.84%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5040" y="4800600"/>
            <a:ext cx="4114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• RAID AI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0" y="4800600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0E676"/>
                </a:solidFill>
                <a:latin typeface="Calibri"/>
              </a:rPr>
              <a:t>99.57%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5040" y="5029200"/>
            <a:ext cx="4114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• Reddit human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5029200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0E676"/>
                </a:solidFill>
                <a:latin typeface="Calibri"/>
              </a:rPr>
              <a:t>98.10%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" y="5394960"/>
            <a:ext cx="11064240" cy="658368"/>
          </a:xfrm>
          <a:prstGeom prst="rect">
            <a:avLst/>
          </a:prstGeom>
          <a:solidFill>
            <a:srgbClr val="12122E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542239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B5CF6"/>
                </a:solidFill>
                <a:latin typeface="Calibri"/>
              </a:rPr>
              <a:t>Curba de antrenare RoBERTa: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80" y="5413248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  <a:latin typeface="Calibri"/>
              </a:rPr>
              <a:t>Epocă 1
Train loss: 0.0405 | Val loss: 0.0988
Acc: 97.76% | F1: 97.80%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93408" y="5413248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E676"/>
                </a:solidFill>
                <a:latin typeface="Calibri"/>
              </a:rPr>
              <a:t>Epocă 2 ★
Train loss: 0.0136 | Val loss: 0.0520
Acc: 99.16% | F1: 99.16%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89136" y="5413248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  <a:latin typeface="Calibri"/>
              </a:rPr>
              <a:t>Epocă 3
Train loss: 0.0034 | Val loss: 0.0633
Acc: 99.03% | F1: 99.03%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COMPARAȚIE CU INSTRUMENTE COMERCIALE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D4FF"/>
                </a:solidFill>
                <a:latin typeface="Calibri"/>
              </a:rPr>
              <a:t>Avantaje și limitări ale soluției propuse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99BB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BB"/>
                </a:solidFill>
                <a:latin typeface="Calibri"/>
              </a:rPr>
              <a:t>13/18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11612880" cy="384048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59" y="1252728"/>
            <a:ext cx="2761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Criteriu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64408" y="1252728"/>
            <a:ext cx="1755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Soluția noastră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8072" y="1252728"/>
            <a:ext cx="15727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GPTZero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48856" y="1252728"/>
            <a:ext cx="15727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ZeroGPT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1252728"/>
            <a:ext cx="1755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Originality.ai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252728"/>
            <a:ext cx="15727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Sapling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1664208"/>
            <a:ext cx="11612880" cy="438912"/>
          </a:xfrm>
          <a:prstGeom prst="rect">
            <a:avLst/>
          </a:prstGeom>
          <a:solidFill>
            <a:srgbClr val="12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1700784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  <a:latin typeface="Calibri"/>
              </a:rPr>
              <a:t>Acuratețe (texte sociale)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18688" y="1664208"/>
            <a:ext cx="1828800" cy="438912"/>
          </a:xfrm>
          <a:prstGeom prst="rect">
            <a:avLst/>
          </a:prstGeom>
          <a:solidFill>
            <a:srgbClr val="00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64408" y="1700784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99.17%
(social media)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48072" y="1700784"/>
            <a:ext cx="1572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Nepublicată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48856" y="1700784"/>
            <a:ext cx="1572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Nepublicată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1700784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76%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1700784"/>
            <a:ext cx="1572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68–87%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121408"/>
            <a:ext cx="11612880" cy="438912"/>
          </a:xfrm>
          <a:prstGeom prst="rect">
            <a:avLst/>
          </a:prstGeom>
          <a:solidFill>
            <a:srgbClr val="0A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2157984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  <a:latin typeface="Calibri"/>
              </a:rPr>
              <a:t>Optimizat pentru texte scurte
(&lt;500 car.)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18688" y="2121408"/>
            <a:ext cx="1828800" cy="438912"/>
          </a:xfrm>
          <a:prstGeom prst="rect">
            <a:avLst/>
          </a:prstGeom>
          <a:solidFill>
            <a:srgbClr val="00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64408" y="2157984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E676"/>
                </a:solidFill>
                <a:latin typeface="Calibri"/>
              </a:rPr>
              <a:t>✓ Optimizat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8072" y="2157984"/>
            <a:ext cx="1572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3B30"/>
                </a:solidFill>
                <a:latin typeface="Calibri"/>
              </a:rPr>
              <a:t>✗ Slab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48856" y="2157984"/>
            <a:ext cx="1572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3B30"/>
                </a:solidFill>
                <a:latin typeface="Calibri"/>
              </a:rPr>
              <a:t>✗ Slab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2157984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8C00"/>
                </a:solidFill>
                <a:latin typeface="Calibri"/>
              </a:rPr>
              <a:t>~ Moderat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0" y="2157984"/>
            <a:ext cx="1572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8C00"/>
                </a:solidFill>
                <a:latin typeface="Calibri"/>
              </a:rPr>
              <a:t>~ Moderat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2578608"/>
            <a:ext cx="11612880" cy="438912"/>
          </a:xfrm>
          <a:prstGeom prst="rect">
            <a:avLst/>
          </a:prstGeom>
          <a:solidFill>
            <a:srgbClr val="12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4048" y="2615184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  <a:latin typeface="Calibri"/>
              </a:rPr>
              <a:t>Justificare decizie
(per cuvânt)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18688" y="2578608"/>
            <a:ext cx="1828800" cy="438912"/>
          </a:xfrm>
          <a:prstGeom prst="rect">
            <a:avLst/>
          </a:prstGeom>
          <a:solidFill>
            <a:srgbClr val="00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64408" y="2615184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E676"/>
                </a:solidFill>
                <a:latin typeface="Calibri"/>
              </a:rPr>
              <a:t>✓ Leave-One-Out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48072" y="2615184"/>
            <a:ext cx="1572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3B30"/>
                </a:solidFill>
                <a:latin typeface="Calibri"/>
              </a:rPr>
              <a:t>✗ Nu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48856" y="2615184"/>
            <a:ext cx="1572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3B30"/>
                </a:solidFill>
                <a:latin typeface="Calibri"/>
              </a:rPr>
              <a:t>✗ Nu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9640" y="2615184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3B30"/>
                </a:solidFill>
                <a:latin typeface="Calibri"/>
              </a:rPr>
              <a:t>✗ Nu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32720" y="2615184"/>
            <a:ext cx="1572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3B30"/>
                </a:solidFill>
                <a:latin typeface="Calibri"/>
              </a:rPr>
              <a:t>✗ Nu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3035808"/>
            <a:ext cx="11612880" cy="438912"/>
          </a:xfrm>
          <a:prstGeom prst="rect">
            <a:avLst/>
          </a:prstGeom>
          <a:solidFill>
            <a:srgbClr val="0A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4048" y="3072384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  <a:latin typeface="Calibri"/>
              </a:rPr>
              <a:t>Comparație 3 modele simultan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18688" y="3035808"/>
            <a:ext cx="1828800" cy="438912"/>
          </a:xfrm>
          <a:prstGeom prst="rect">
            <a:avLst/>
          </a:prstGeom>
          <a:solidFill>
            <a:srgbClr val="00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64408" y="3072384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E676"/>
                </a:solidFill>
                <a:latin typeface="Calibri"/>
              </a:rPr>
              <a:t>✓ 3 modele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48072" y="3072384"/>
            <a:ext cx="1572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3B30"/>
                </a:solidFill>
                <a:latin typeface="Calibri"/>
              </a:rPr>
              <a:t>✗ Nu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48856" y="3072384"/>
            <a:ext cx="1572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3B30"/>
                </a:solidFill>
                <a:latin typeface="Calibri"/>
              </a:rPr>
              <a:t>✗ Nu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49640" y="3072384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3B30"/>
                </a:solidFill>
                <a:latin typeface="Calibri"/>
              </a:rPr>
              <a:t>✗ Nu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32720" y="3072384"/>
            <a:ext cx="1572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3B30"/>
                </a:solidFill>
                <a:latin typeface="Calibri"/>
              </a:rPr>
              <a:t>✗ Nu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3493008"/>
            <a:ext cx="11612880" cy="438912"/>
          </a:xfrm>
          <a:prstGeom prst="rect">
            <a:avLst/>
          </a:prstGeom>
          <a:solidFill>
            <a:srgbClr val="12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4048" y="3529584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  <a:latin typeface="Calibri"/>
              </a:rPr>
              <a:t>Analiză per propoziție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18688" y="3493008"/>
            <a:ext cx="1828800" cy="438912"/>
          </a:xfrm>
          <a:prstGeom prst="rect">
            <a:avLst/>
          </a:prstGeom>
          <a:solidFill>
            <a:srgbClr val="00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64408" y="3529584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E676"/>
                </a:solidFill>
                <a:latin typeface="Calibri"/>
              </a:rPr>
              <a:t>✓ 5 niveluri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48072" y="3529584"/>
            <a:ext cx="1572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3B30"/>
                </a:solidFill>
                <a:latin typeface="Calibri"/>
              </a:rPr>
              <a:t>✗ Nu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48856" y="3529584"/>
            <a:ext cx="1572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8C00"/>
                </a:solidFill>
                <a:latin typeface="Calibri"/>
              </a:rPr>
              <a:t>~ Parțial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49640" y="3529584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3B30"/>
                </a:solidFill>
                <a:latin typeface="Calibri"/>
              </a:rPr>
              <a:t>✗ Nu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32720" y="3529584"/>
            <a:ext cx="1572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3B30"/>
                </a:solidFill>
                <a:latin typeface="Calibri"/>
              </a:rPr>
              <a:t>✗ Nu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0040" y="3950208"/>
            <a:ext cx="11612880" cy="438912"/>
          </a:xfrm>
          <a:prstGeom prst="rect">
            <a:avLst/>
          </a:prstGeom>
          <a:solidFill>
            <a:srgbClr val="0A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4048" y="3986784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  <a:latin typeface="Calibri"/>
              </a:rPr>
              <a:t>Scor agregat multi-semnal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18688" y="3950208"/>
            <a:ext cx="1828800" cy="438912"/>
          </a:xfrm>
          <a:prstGeom prst="rect">
            <a:avLst/>
          </a:prstGeom>
          <a:solidFill>
            <a:srgbClr val="00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264408" y="3986784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E676"/>
                </a:solidFill>
                <a:latin typeface="Calibri"/>
              </a:rPr>
              <a:t>✓ Da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48072" y="3986784"/>
            <a:ext cx="1572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3B30"/>
                </a:solidFill>
                <a:latin typeface="Calibri"/>
              </a:rPr>
              <a:t>✗ Nu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48856" y="3986784"/>
            <a:ext cx="1572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3B30"/>
                </a:solidFill>
                <a:latin typeface="Calibri"/>
              </a:rPr>
              <a:t>✗ Nu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49640" y="3986784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3B30"/>
                </a:solidFill>
                <a:latin typeface="Calibri"/>
              </a:rPr>
              <a:t>✗ Nu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32720" y="3986784"/>
            <a:ext cx="1572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3B30"/>
                </a:solidFill>
                <a:latin typeface="Calibri"/>
              </a:rPr>
              <a:t>✗ Nu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20040" y="4407408"/>
            <a:ext cx="11612880" cy="438912"/>
          </a:xfrm>
          <a:prstGeom prst="rect">
            <a:avLst/>
          </a:prstGeom>
          <a:solidFill>
            <a:srgbClr val="12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84048" y="4443984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  <a:latin typeface="Calibri"/>
              </a:rPr>
              <a:t>Procesare batch CSV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18688" y="4407408"/>
            <a:ext cx="1828800" cy="438912"/>
          </a:xfrm>
          <a:prstGeom prst="rect">
            <a:avLst/>
          </a:prstGeom>
          <a:solidFill>
            <a:srgbClr val="00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264408" y="4443984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E676"/>
                </a:solidFill>
                <a:latin typeface="Calibri"/>
              </a:rPr>
              <a:t>✓ Până la 500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48072" y="4443984"/>
            <a:ext cx="1572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3B30"/>
                </a:solidFill>
                <a:latin typeface="Calibri"/>
              </a:rPr>
              <a:t>✗ Doar API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48856" y="4443984"/>
            <a:ext cx="1572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3B30"/>
                </a:solidFill>
                <a:latin typeface="Calibri"/>
              </a:rPr>
              <a:t>✗ Nu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49640" y="4443984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E676"/>
                </a:solidFill>
                <a:latin typeface="Calibri"/>
              </a:rPr>
              <a:t>✓ API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332720" y="4443984"/>
            <a:ext cx="1572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E676"/>
                </a:solidFill>
                <a:latin typeface="Calibri"/>
              </a:rPr>
              <a:t>✓ API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0040" y="4864608"/>
            <a:ext cx="11612880" cy="438912"/>
          </a:xfrm>
          <a:prstGeom prst="rect">
            <a:avLst/>
          </a:prstGeom>
          <a:solidFill>
            <a:srgbClr val="0A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84048" y="4901184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  <a:latin typeface="Calibri"/>
              </a:rPr>
              <a:t>Cost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218688" y="4864608"/>
            <a:ext cx="1828800" cy="438912"/>
          </a:xfrm>
          <a:prstGeom prst="rect">
            <a:avLst/>
          </a:prstGeom>
          <a:solidFill>
            <a:srgbClr val="00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264408" y="4901184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E676"/>
                </a:solidFill>
                <a:latin typeface="Calibri"/>
              </a:rPr>
              <a:t>✓ Gratuit
open-source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148072" y="4901184"/>
            <a:ext cx="1572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8C00"/>
                </a:solidFill>
                <a:latin typeface="Calibri"/>
              </a:rPr>
              <a:t>~ Freemium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848856" y="4901184"/>
            <a:ext cx="1572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E676"/>
                </a:solidFill>
                <a:latin typeface="Calibri"/>
              </a:rPr>
              <a:t>✓ Gratuit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49640" y="4901184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3B30"/>
                </a:solidFill>
                <a:latin typeface="Calibri"/>
              </a:rPr>
              <a:t>✗ Plată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332720" y="4901184"/>
            <a:ext cx="1572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E676"/>
                </a:solidFill>
                <a:latin typeface="Calibri"/>
              </a:rPr>
              <a:t>✓ Gratuit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20040" y="5321808"/>
            <a:ext cx="11612880" cy="438912"/>
          </a:xfrm>
          <a:prstGeom prst="rect">
            <a:avLst/>
          </a:prstGeom>
          <a:solidFill>
            <a:srgbClr val="12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84048" y="5358384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  <a:latin typeface="Calibri"/>
              </a:rPr>
              <a:t>Transparență metodologie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218688" y="5321808"/>
            <a:ext cx="1828800" cy="438912"/>
          </a:xfrm>
          <a:prstGeom prst="rect">
            <a:avLst/>
          </a:prstGeom>
          <a:solidFill>
            <a:srgbClr val="00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264408" y="5358384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E676"/>
                </a:solidFill>
                <a:latin typeface="Calibri"/>
              </a:rPr>
              <a:t>✓ Cod public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48072" y="5358384"/>
            <a:ext cx="1572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8C00"/>
                </a:solidFill>
                <a:latin typeface="Calibri"/>
              </a:rPr>
              <a:t>~ Parțial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48856" y="5358384"/>
            <a:ext cx="1572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3B30"/>
                </a:solidFill>
                <a:latin typeface="Calibri"/>
              </a:rPr>
              <a:t>✗ Nu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49640" y="5358384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3B30"/>
                </a:solidFill>
                <a:latin typeface="Calibri"/>
              </a:rPr>
              <a:t>✗ Nu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332720" y="5358384"/>
            <a:ext cx="1572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3B30"/>
                </a:solidFill>
                <a:latin typeface="Calibri"/>
              </a:rPr>
              <a:t>✗ Nu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20040" y="5779008"/>
            <a:ext cx="11612880" cy="438912"/>
          </a:xfrm>
          <a:prstGeom prst="rect">
            <a:avLst/>
          </a:prstGeom>
          <a:solidFill>
            <a:srgbClr val="0A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84048" y="5815584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  <a:latin typeface="Calibri"/>
              </a:rPr>
              <a:t>Suport multilingv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218688" y="5779008"/>
            <a:ext cx="1828800" cy="438912"/>
          </a:xfrm>
          <a:prstGeom prst="rect">
            <a:avLst/>
          </a:prstGeom>
          <a:solidFill>
            <a:srgbClr val="00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264408" y="5815584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3B30"/>
                </a:solidFill>
                <a:latin typeface="Calibri"/>
              </a:rPr>
              <a:t>✗ Doar engleză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48072" y="5815584"/>
            <a:ext cx="1572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8C00"/>
                </a:solidFill>
                <a:latin typeface="Calibri"/>
              </a:rPr>
              <a:t>~ Parțial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48856" y="5815584"/>
            <a:ext cx="1572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8C00"/>
                </a:solidFill>
                <a:latin typeface="Calibri"/>
              </a:rPr>
              <a:t>~ Parțial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549640" y="5815584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3B30"/>
                </a:solidFill>
                <a:latin typeface="Calibri"/>
              </a:rPr>
              <a:t>✗ Doar engl.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332720" y="5815584"/>
            <a:ext cx="15727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3B30"/>
                </a:solidFill>
                <a:latin typeface="Calibri"/>
              </a:rPr>
              <a:t>✗ Doar engl.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CONTRIBUȚII ORIGINALE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D4FF"/>
                </a:solidFill>
                <a:latin typeface="Calibri"/>
              </a:rPr>
              <a:t>Ce aduce nou această lucrare?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99BB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BB"/>
                </a:solidFill>
                <a:latin typeface="Calibri"/>
              </a:rPr>
              <a:t>14/18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594360" cy="91440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481328"/>
            <a:ext cx="594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987552" y="1261872"/>
            <a:ext cx="10607040" cy="914400"/>
          </a:xfrm>
          <a:prstGeom prst="rect">
            <a:avLst/>
          </a:prstGeom>
          <a:solidFill>
            <a:srgbClr val="12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1316736"/>
            <a:ext cx="10332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8BFF"/>
                </a:solidFill>
                <a:latin typeface="Calibri"/>
              </a:rPr>
              <a:t>Set de date dedicat social media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645919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DDFF"/>
                </a:solidFill>
                <a:latin typeface="Calibri"/>
              </a:rPr>
              <a:t>6 surse combinate, 45.834 exemple filtrate la 50-500 caractere. Structura HC3 (perechi uman/AI pe aceleași întrebări) permite modelului să înveţe diferențele de stil IZOLAT de diferențele de conținut. RAID 2024 previne supra-adaptarea pe un singur model generator.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340863"/>
            <a:ext cx="594360" cy="914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560320"/>
            <a:ext cx="594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7552" y="2340863"/>
            <a:ext cx="10607040" cy="914400"/>
          </a:xfrm>
          <a:prstGeom prst="rect">
            <a:avLst/>
          </a:prstGeom>
          <a:solidFill>
            <a:srgbClr val="12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395727"/>
            <a:ext cx="10332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Comparare sistematică 3 clasificatori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724911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DDFF"/>
                </a:solidFill>
                <a:latin typeface="Calibri"/>
              </a:rPr>
              <a:t>Naive Bayes, Regresie Logistică și RoBERTa pe același set de date, în condiții identice. Diferența de 2.46 pp între LR și RoBERTa la cost computațional de milisecunde vs. 0.5-2 secunde oferă perspectivă practică.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419856"/>
            <a:ext cx="594360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639311"/>
            <a:ext cx="594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" y="3419856"/>
            <a:ext cx="10607040" cy="914400"/>
          </a:xfrm>
          <a:prstGeom prst="rect">
            <a:avLst/>
          </a:prstGeom>
          <a:solidFill>
            <a:srgbClr val="12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474720"/>
            <a:ext cx="10332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B5CF6"/>
                </a:solidFill>
                <a:latin typeface="Calibri"/>
              </a:rPr>
              <a:t>Componenta Leave-One-Out (justificare decizie)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3803904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DDFF"/>
                </a:solidFill>
                <a:latin typeface="Calibri"/>
              </a:rPr>
              <a:t>Justificare la nivel de cuvânt: care cuvinte contribuie spre AI și care spre uman. Implementată pentru toate 3 modelele. Niciun instrument comercial (GPTZero, ZeroGPT, Originality.ai, Sapling) nu oferă această transparență.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498848"/>
            <a:ext cx="594360" cy="914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4718304"/>
            <a:ext cx="594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" y="4498848"/>
            <a:ext cx="10607040" cy="914400"/>
          </a:xfrm>
          <a:prstGeom prst="rect">
            <a:avLst/>
          </a:prstGeom>
          <a:solidFill>
            <a:srgbClr val="12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553712"/>
            <a:ext cx="10332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C00"/>
                </a:solidFill>
                <a:latin typeface="Calibri"/>
              </a:rPr>
              <a:t>Scor agregat de risc multi-semnal (0-100)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4882896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DDFF"/>
                </a:solidFill>
                <a:latin typeface="Calibri"/>
              </a:rPr>
              <a:t>Combină: RoBERTa (60%), fraze tipice AI (max 25%), statistici vocabular (max 15%). Vizualizat ca indicator circular animat cu 3 niveluri cromatice (verde/galben/roșu).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5577840"/>
            <a:ext cx="594360" cy="9144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5797296"/>
            <a:ext cx="594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87552" y="5577840"/>
            <a:ext cx="10607040" cy="914400"/>
          </a:xfrm>
          <a:prstGeom prst="rect">
            <a:avLst/>
          </a:prstGeom>
          <a:solidFill>
            <a:srgbClr val="12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5632703"/>
            <a:ext cx="10332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E676"/>
                </a:solidFill>
                <a:latin typeface="Calibri"/>
              </a:rPr>
              <a:t>Aplicație web integrată open-source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5961888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DDFF"/>
                </a:solidFill>
                <a:latin typeface="Calibri"/>
              </a:rPr>
              <a:t>Analiză text individual, comparație 3 modele, analiză per propoziție (5 niveluri), NER (SpaCy), batch CSV până la 500 texte cu export, istoric 10 analize. Cod sursă public — verificabil, extensibil.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DOMENII DE UTILIZARE &amp; DEZVOLTĂRI ULTERIOARE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D4FF"/>
                </a:solidFill>
                <a:latin typeface="Calibri"/>
              </a:rPr>
              <a:t>Aplicabilitate practică și direcții de cercetare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99BB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BB"/>
                </a:solidFill>
                <a:latin typeface="Calibri"/>
              </a:rPr>
              <a:t>15/18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2618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D4FF"/>
                </a:solidFill>
                <a:latin typeface="Calibri"/>
              </a:rPr>
              <a:t>Domenii de utilizare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600200"/>
            <a:ext cx="566928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719072"/>
            <a:ext cx="54864" cy="77724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55648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BFF"/>
                </a:solidFill>
                <a:latin typeface="Calibri"/>
              </a:rPr>
              <a:t>Verificare conținut online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066543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Utilizatori individuali care doresc să verifice autenticitatea
postărilor înainte de a le redistribui.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651760"/>
            <a:ext cx="54864" cy="777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68833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B5CF6"/>
                </a:solidFill>
                <a:latin typeface="Calibri"/>
              </a:rPr>
              <a:t>Moderare platforme sociale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9923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Procesare în lot: admin-ii analizează sistematic până la
500 texte cu raport CSV exportabil.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584448"/>
            <a:ext cx="54864" cy="77724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621024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C00"/>
                </a:solidFill>
                <a:latin typeface="Calibri"/>
              </a:rPr>
              <a:t>Jurnalism &amp; fact-checking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93192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Prim filtru în fluxul de lucru al jurnaliștilor,
semnalând sursele suspecte (600+ domenii AI în 2023).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517136"/>
            <a:ext cx="54864" cy="7772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5371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Calibri"/>
              </a:rPr>
              <a:t>Securitate cibernetică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864607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Detectare phishing personalizat cu LLM-uri.
Factorul uman = 68% din incidentele de securitate.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449824"/>
            <a:ext cx="54864" cy="77724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676"/>
                </a:solidFill>
                <a:latin typeface="Calibri"/>
              </a:rPr>
              <a:t>Cercetare academică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797296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Arhitectură modulară — modele noi adăugabile
fără modificarea interfeței.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6208" y="1234440"/>
            <a:ext cx="27432" cy="48463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1261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B5CF6"/>
                </a:solidFill>
                <a:latin typeface="Calibri"/>
              </a:rPr>
              <a:t>Dezvoltări ulterioare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1600200"/>
            <a:ext cx="5486400" cy="2743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0" y="1719072"/>
            <a:ext cx="347472" cy="347472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1773936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737360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BFF"/>
                </a:solidFill>
                <a:latin typeface="Calibri"/>
              </a:rPr>
              <a:t>Extindere multilingvă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2048255"/>
            <a:ext cx="5074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XLM-RoBERTa (100+ limbi) sau seturi de date
specifice per limbă (incl. română — Facebook, Reddit r/România)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2496312"/>
            <a:ext cx="347472" cy="3474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551176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514600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Calibri"/>
              </a:rPr>
              <a:t>Reantrenare periodică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825496"/>
            <a:ext cx="5074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Pipeline semi-automat pe GPT-4o, Claude, Gemini,
LLaMA 3 — combatere concept drift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3273552"/>
            <a:ext cx="347472" cy="3474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3328416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291840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B5CF6"/>
                </a:solidFill>
                <a:latin typeface="Calibri"/>
              </a:rPr>
              <a:t>Robustețe la atacuri de evitare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602736"/>
            <a:ext cx="5074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Testare sistematica: parafrazare, humanizare,
texte mixte, post-procesare comerciala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4050791"/>
            <a:ext cx="347472" cy="34747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0" y="4105655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069079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C00"/>
                </a:solidFill>
                <a:latin typeface="Calibri"/>
              </a:rPr>
              <a:t>Semnale comportamentale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379976"/>
            <a:ext cx="5074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Frecvență postare, redistribuiri, profil cont —
analiză multi-modală (text + comportament rețea)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4828031"/>
            <a:ext cx="347472" cy="347472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0" y="4882895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4846319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676"/>
                </a:solidFill>
                <a:latin typeface="Calibri"/>
              </a:rPr>
              <a:t>Infrastructură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157216"/>
            <a:ext cx="5074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Extensie browser, API public REST,
containerizare Docker pentru deployment cloud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5605272"/>
            <a:ext cx="347472" cy="347472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0" y="5660136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39712" y="5623559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BFF"/>
                </a:solidFill>
                <a:latin typeface="Calibri"/>
              </a:rPr>
              <a:t>Calibrare scor agregat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39712" y="5934456"/>
            <a:ext cx="5074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  <a:latin typeface="Calibri"/>
              </a:rPr>
              <a:t>Optimizare automată a ponderilor (60/25/15)
pe set de validare dedicat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CONCLUZII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D4FF"/>
                </a:solidFill>
                <a:latin typeface="Calibri"/>
              </a:rPr>
              <a:t>Ce a demonstrat această lucrare?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99BB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BB"/>
                </a:solidFill>
                <a:latin typeface="Calibri"/>
              </a:rPr>
              <a:t>16/18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80160"/>
            <a:ext cx="11521440" cy="1170432"/>
          </a:xfrm>
          <a:prstGeom prst="rect">
            <a:avLst/>
          </a:prstGeom>
          <a:solidFill>
            <a:srgbClr val="12122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280160"/>
            <a:ext cx="73152" cy="1170432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344168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E676"/>
                </a:solidFill>
                <a:latin typeface="Calibri"/>
              </a:rPr>
              <a:t>Detectarea este posibilă chiar pe texte scurte de social media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719072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F"/>
                </a:solidFill>
                <a:latin typeface="Calibri"/>
              </a:rPr>
              <a:t>Contra intuiției, detectarea textului AI funcționează bine chiar și pe texte de 50-500 caractere — acuratețe 99.17% pe setul de test și &gt;99.5% pe sursele propriu-zise de social media. Confirmă teorema lui Chakraborty et al. (2023): cât timp există diferențe statistice, un clasificator cu suficiente date le poate exploata.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542032"/>
            <a:ext cx="11521440" cy="1170432"/>
          </a:xfrm>
          <a:prstGeom prst="rect">
            <a:avLst/>
          </a:prstGeom>
          <a:solidFill>
            <a:srgbClr val="12122E"/>
          </a:solidFill>
          <a:ln w="1905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542032"/>
            <a:ext cx="73152" cy="1170432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2606039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8BFF"/>
                </a:solidFill>
                <a:latin typeface="Calibri"/>
              </a:rPr>
              <a:t>RoBERTa depășește semnificativ metodele clasice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2980944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F"/>
                </a:solidFill>
                <a:latin typeface="Calibri"/>
              </a:rPr>
              <a:t>Diferența de 5 pp față de Naive Bayes și 2.5 pp față de Regresia Logistică demonstrează valoarea modelării contextuale Transformer față de reprezentările statistice TF-IDF. Totuși, Regresia Logistică (96.71%) rămâne o alternativă viabilă în scenarii fără GPU.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803904"/>
            <a:ext cx="11521440" cy="1170432"/>
          </a:xfrm>
          <a:prstGeom prst="rect">
            <a:avLst/>
          </a:prstGeom>
          <a:solidFill>
            <a:srgbClr val="12122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3803904"/>
            <a:ext cx="73152" cy="1170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3867912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Setul de date este crucial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" y="4242816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F"/>
                </a:solidFill>
                <a:latin typeface="Calibri"/>
              </a:rPr>
              <a:t>Aproape toate erorile provin din texte formale (ai_human_csv). Pe toate sursele de social media propriu-zise, acuratețea depășește 99.5%, validând decizia de a antrena pe date specifice acestui domeniu.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5065775"/>
            <a:ext cx="11521440" cy="1170432"/>
          </a:xfrm>
          <a:prstGeom prst="rect">
            <a:avLst/>
          </a:prstGeom>
          <a:solidFill>
            <a:srgbClr val="12122E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5065775"/>
            <a:ext cx="73152" cy="117043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5129783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B5CF6"/>
                </a:solidFill>
                <a:latin typeface="Calibri"/>
              </a:rPr>
              <a:t>Limitări rămase și direcții de viitor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" y="5504688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F"/>
                </a:solidFill>
                <a:latin typeface="Calibri"/>
              </a:rPr>
              <a:t>Dependența de limba engleză, lipsa testării sistematice la parafrazare și riscul de concept drift pe modele noi sunt limitările principale. Extinderea cu XLM-RoBERTa și reantrenarea periodică sunt direcțiile prioritare.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BIBLIOGRAFIE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D4FF"/>
                </a:solidFill>
                <a:latin typeface="Calibri"/>
              </a:rPr>
              <a:t>Referințe utilizate în prezentare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99BB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BB"/>
                </a:solidFill>
                <a:latin typeface="Calibri"/>
              </a:rPr>
              <a:t>17/18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261872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261872"/>
            <a:ext cx="5120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DFF"/>
                </a:solidFill>
                <a:latin typeface="Calibri"/>
              </a:rPr>
              <a:t>Barbieri, F., Camacho-Collados, J., Espinosa-Anke, L., &amp; Neves, L. (2020). TweetEval: Unified Benchmark and Comparative Evaluation for Tweet Classification. arXiv:2010.12421.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773936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[4]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1773936"/>
            <a:ext cx="5120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DFF"/>
                </a:solidFill>
                <a:latin typeface="Calibri"/>
              </a:rPr>
              <a:t>Bommasani, R. et al. (2022). On the Opportunities and Risks of Foundation Models. arXiv:2108.07258.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2286000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[5]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286000"/>
            <a:ext cx="5120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DFF"/>
                </a:solidFill>
                <a:latin typeface="Calibri"/>
              </a:rPr>
              <a:t>Brown, T., Mann, B., Ryder, N., Subbiah, M., Kaplan, J., Dhariwal, P., ... &amp; Amodei, D. (2020). Language Models are Few-Shot Learners. arXiv:2005.14165.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798064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[6]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798064"/>
            <a:ext cx="5120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DFF"/>
                </a:solidFill>
                <a:latin typeface="Calibri"/>
              </a:rPr>
              <a:t>Chakraborty, S., Bedi, A. S., Zhu, S., An, B., Manocha, D., &amp; Huang, F. (2023). On the Possibilities of AI-Generated Text Detection. arXiv:2304.04736.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3310128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[9]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3310128"/>
            <a:ext cx="5120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DFF"/>
                </a:solidFill>
                <a:latin typeface="Calibri"/>
              </a:rPr>
              <a:t>Dugan, L., Hwang, A., Trhlík, F., Zhu, Z., Ippolito, D., &amp; Callison-Burch, C. (2024). RAID: A Shared Benchmark for Robust Evaluation of Machine-Generated Text Detectors. Proceedings of ACL 2024. arXiv:2405.07940.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822191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[10]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822191"/>
            <a:ext cx="5120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DFF"/>
                </a:solidFill>
                <a:latin typeface="Calibri"/>
              </a:rPr>
              <a:t>Gehrmann, S., Strobelt, H., &amp; Rush, A. M. (2019). GLTR: Statistical Detection and Visualization of Generated Text. arXiv:1906.04043.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4334256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[11]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334256"/>
            <a:ext cx="5120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DFF"/>
                </a:solidFill>
                <a:latin typeface="Calibri"/>
              </a:rPr>
              <a:t>Gillespie, N., Lockey, S., Curtis, C., Pool, J., &amp; Akbari, A. (2025). Trust, Attitudes and Use of Artificial Intelligence: A Global Study 2025. The University of Melbourne &amp; KPMG.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4846320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[13]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4846320"/>
            <a:ext cx="5120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DFF"/>
                </a:solidFill>
                <a:latin typeface="Calibri"/>
              </a:rPr>
              <a:t>Guo, W., Shen, W., Lei, J., Chow, K., &amp; Shi, E. (2023). How Close is ChatGPT to Human Experts? Comparison Corpus, Evaluation, and Detection (HC3). arXiv:2301.07597.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5358384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[15]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358384"/>
            <a:ext cx="5120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DFF"/>
                </a:solidFill>
                <a:latin typeface="Calibri"/>
              </a:rPr>
              <a:t>Kirchenbauer, J., Geiping, J., Wen, Y., Katz, J., Miers, I., &amp; Goldstein, T. (2023). A Watermark for Large Language Models. arXiv:2301.10226.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1261872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[16]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56832" y="1261872"/>
            <a:ext cx="5212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DFF"/>
                </a:solidFill>
                <a:latin typeface="Calibri"/>
              </a:rPr>
              <a:t>Krishna, K., Song, Y., Karpinska, M., Wieting, J., &amp; Iyyer, M. (2023). Paraphrasing Evades Detectors of AI-Generated Text, but Retrieval is an Effective Defense. arXiv:2303.13408.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1773936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[19]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1773936"/>
            <a:ext cx="5212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DFF"/>
                </a:solidFill>
                <a:latin typeface="Calibri"/>
              </a:rPr>
              <a:t>Liu, Y., Ott, M., Goyal, N., Du, J., Joshi, M., Chen, D., ... &amp; Stoyanov, V. (2019). RoBERTa: A Robustly Optimized BERT Pretraining Approach. arXiv:1907.11692.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286000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[20]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832" y="2286000"/>
            <a:ext cx="5212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DFF"/>
                </a:solidFill>
                <a:latin typeface="Calibri"/>
              </a:rPr>
              <a:t>Mitchell, E., Lee, Y., Khazatsky, A., Manning, C. D., &amp; Finn, C. (2023). DetectGPT: Zero-Shot Machine-Generated Text Detection Using Probability Curvature. arXiv:2301.11305.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2798064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[21]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56832" y="2798064"/>
            <a:ext cx="5212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DFF"/>
                </a:solidFill>
                <a:latin typeface="Calibri"/>
              </a:rPr>
              <a:t>NewsGuard (2023). The Year AI Supercharged Misinformation: NewsGuard's 2023 in Review.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3310128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[27]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56832" y="3310128"/>
            <a:ext cx="5212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DFF"/>
                </a:solidFill>
                <a:latin typeface="Calibri"/>
              </a:rPr>
              <a:t>Sadasivan, V. S., Kumar, A., Balasubramanian, S., Wang, W., &amp; Feizi, S. (2023). Can AI-Generated Text be Reliably Detected? arXiv:2303.11156.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3822191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[30]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56832" y="3822191"/>
            <a:ext cx="5212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DFF"/>
                </a:solidFill>
                <a:latin typeface="Calibri"/>
              </a:rPr>
              <a:t>Sun, Z., Shi, T., Guo, X., Liu, D., &amp; Chen, C. (2024). Are We in the AI-Generated Text World Already? Quantifying and Monitoring AIGT on Social Media. arXiv:2412.18148.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4334256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[32]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56832" y="4334256"/>
            <a:ext cx="5212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DFF"/>
                </a:solidFill>
                <a:latin typeface="Calibri"/>
              </a:rPr>
              <a:t>Vaswani, A., Shazeer, N., Parmar, N., Uszkoreit, J., Jones, L., Gomez, A. N., ... &amp; Polosukhin, I. (2017). Attention is All You Need. arXiv:1706.03762.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72200" y="4846320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[33]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56832" y="4846320"/>
            <a:ext cx="5212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DFF"/>
                </a:solidFill>
                <a:latin typeface="Calibri"/>
              </a:rPr>
              <a:t>Verizon (2024). 2024 Data Breach Investigations Report.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89320" y="1234440"/>
            <a:ext cx="27432" cy="512064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286000"/>
          </a:xfrm>
          <a:prstGeom prst="rect">
            <a:avLst/>
          </a:prstGeom>
          <a:solidFill>
            <a:srgbClr val="0D0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67712"/>
            <a:ext cx="12188952" cy="54864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22576"/>
            <a:ext cx="12188952" cy="182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899BB"/>
                </a:solidFill>
                <a:latin typeface="Calibri"/>
              </a:rPr>
              <a:t>Bianca-Ștefania GHEORGHE  ·  Coordonator: Conf.dr.ing. Daniel-Marian MEREZEANU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83464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Calibri"/>
              </a:rPr>
              <a:t>Vă mulțumesc pentru atenție!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4023360"/>
            <a:ext cx="8503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0D4FF"/>
                </a:solidFill>
                <a:latin typeface="Calibri"/>
              </a:rPr>
              <a:t>Sunt disponibilă pentru întrebări.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892040"/>
            <a:ext cx="2103120" cy="1325880"/>
          </a:xfrm>
          <a:prstGeom prst="rect">
            <a:avLst/>
          </a:prstGeom>
          <a:solidFill>
            <a:srgbClr val="12122E"/>
          </a:solidFill>
          <a:ln w="127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4956048"/>
            <a:ext cx="1920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E676"/>
                </a:solidFill>
                <a:latin typeface="Calibri"/>
              </a:rPr>
              <a:t>99.17%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5614416"/>
            <a:ext cx="1920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DDFF"/>
                </a:solidFill>
                <a:latin typeface="Calibri"/>
              </a:rPr>
              <a:t>Acuratețe
RoBERTa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94760" y="4892040"/>
            <a:ext cx="2103120" cy="1325880"/>
          </a:xfrm>
          <a:prstGeom prst="rect">
            <a:avLst/>
          </a:prstGeom>
          <a:solidFill>
            <a:srgbClr val="12122E"/>
          </a:solidFill>
          <a:ln w="127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86200" y="4956048"/>
            <a:ext cx="1920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E676"/>
                </a:solidFill>
                <a:latin typeface="Calibri"/>
              </a:rPr>
              <a:t>45.834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5614416"/>
            <a:ext cx="1920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DDFF"/>
                </a:solidFill>
                <a:latin typeface="Calibri"/>
              </a:rPr>
              <a:t>Exemple
antrenare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4892040"/>
            <a:ext cx="2103120" cy="1325880"/>
          </a:xfrm>
          <a:prstGeom prst="rect">
            <a:avLst/>
          </a:prstGeom>
          <a:solidFill>
            <a:srgbClr val="12122E"/>
          </a:solidFill>
          <a:ln w="127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4956048"/>
            <a:ext cx="1920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E676"/>
                </a:solidFill>
                <a:latin typeface="Calibri"/>
              </a:rPr>
              <a:t>6 surse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5614416"/>
            <a:ext cx="1920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DDFF"/>
                </a:solidFill>
                <a:latin typeface="Calibri"/>
              </a:rPr>
              <a:t>Date
social media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4892040"/>
            <a:ext cx="2103120" cy="1325880"/>
          </a:xfrm>
          <a:prstGeom prst="rect">
            <a:avLst/>
          </a:prstGeom>
          <a:solidFill>
            <a:srgbClr val="12122E"/>
          </a:solidFill>
          <a:ln w="127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19" y="4956048"/>
            <a:ext cx="1920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E676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19" y="5614416"/>
            <a:ext cx="1920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DDFF"/>
                </a:solidFill>
                <a:latin typeface="Calibri"/>
              </a:rPr>
              <a:t>Contribuții
originale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73152" cy="45720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457200" cy="73152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68328" y="0"/>
            <a:ext cx="73152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50040" y="0"/>
            <a:ext cx="457200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784848"/>
            <a:ext cx="73152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784848"/>
            <a:ext cx="457200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768328" y="6784848"/>
            <a:ext cx="73152" cy="45720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750040" y="6784848"/>
            <a:ext cx="457200" cy="73152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