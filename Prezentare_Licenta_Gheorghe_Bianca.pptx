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17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-1280160"/>
            <a:ext cx="5943600" cy="3343275"/>
          </a:xfrm>
          <a:prstGeom prst="rect">
            <a:avLst/>
          </a:prstGeom>
        </p:spPr>
      </p:pic>
      <p:pic>
        <p:nvPicPr>
          <p:cNvPr id="3" name="Picture 2" descr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1680" y="2377440"/>
            <a:ext cx="5029200" cy="28289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960120"/>
            <a:ext cx="786384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A896C4"/>
                </a:solidFill>
                <a:latin typeface="Calibri"/>
              </a:rPr>
              <a:t>UNIVERSITATEA POLITEHNICA BUCUREȘTI · FACULTATEA AUTOMATICĂ ȘI CALCULATOARE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786384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6F3FB"/>
                </a:solidFill>
                <a:latin typeface="Calibri"/>
              </a:rPr>
              <a:t>LUCRARE DE DIPLOMĂ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7863840" cy="1371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" y="3246120"/>
            <a:ext cx="640080" cy="45720"/>
          </a:xfrm>
          <a:prstGeom prst="rect">
            <a:avLst/>
          </a:prstGeom>
          <a:solidFill>
            <a:srgbClr val="AE7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4290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96C4"/>
                </a:solidFill>
                <a:latin typeface="Calibri"/>
              </a:rPr>
              <a:t>Absolvent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5760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Bianca-Ștefania GHEORGHE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96C4"/>
                </a:solidFill>
                <a:latin typeface="Calibri"/>
              </a:rPr>
              <a:t>Coordonator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43400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Conf.dr.ing. Daniel-Marian MEREZEANU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448056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76F3FB"/>
                </a:solidFill>
                <a:latin typeface="Calibri"/>
              </a:rPr>
              <a:t>Sesiunea Iunie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17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-914400"/>
            <a:ext cx="3017520" cy="169735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76F3FB"/>
                </a:solidFill>
                <a:latin typeface="Calibri"/>
              </a:rPr>
              <a:t>TEMA LUCRĂRII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Context și stadiul actual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033271"/>
            <a:ext cx="777240" cy="41148"/>
          </a:xfrm>
          <a:prstGeom prst="rect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8646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A896C4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864608"/>
            <a:ext cx="73152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A896C4"/>
                </a:solidFill>
                <a:latin typeface="Calibri"/>
              </a:rPr>
              <a:t>2/10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4114800" cy="342900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34440"/>
            <a:ext cx="64008" cy="3429000"/>
          </a:xfrm>
          <a:prstGeom prst="rect">
            <a:avLst/>
          </a:prstGeom>
          <a:solidFill>
            <a:srgbClr val="AE7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3749039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AE77D6"/>
                </a:solidFill>
                <a:latin typeface="Calibri"/>
              </a:rPr>
              <a:t>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83080"/>
            <a:ext cx="3794760" cy="2834640"/>
          </a:xfrm>
          <a:prstGeom prst="rect">
            <a:avLst/>
          </a:prstGeom>
          <a:noFill/>
        </p:spPr>
        <p:txBody>
          <a:bodyPr wrap="square" lIns="0" rIns="0" tIns="2540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>
                <a:solidFill>
                  <a:srgbClr val="76F3FB"/>
                </a:solidFill>
                <a:latin typeface="Calibri"/>
              </a:rPr>
              <a:t>● </a:t>
            </a:r>
            <a:r>
              <a:rPr sz="1200">
                <a:solidFill>
                  <a:srgbClr val="E6DCF5"/>
                </a:solidFill>
                <a:latin typeface="Calibri"/>
              </a:rPr>
              <a:t>Modelele LLM (ChatGPT, GPT-4, Gemini) generează texte aproape indistinguibile de cele scrise de oameni.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>
                <a:solidFill>
                  <a:srgbClr val="76F3FB"/>
                </a:solidFill>
                <a:latin typeface="Calibri"/>
              </a:rPr>
              <a:t>● </a:t>
            </a:r>
            <a:r>
              <a:rPr sz="1200">
                <a:solidFill>
                  <a:srgbClr val="E6DCF5"/>
                </a:solidFill>
                <a:latin typeface="Calibri"/>
              </a:rPr>
              <a:t>Rețelele sociale: publicare instantanee, fără filtrare editorială → dezinformarea se propagă rapid.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>
                <a:solidFill>
                  <a:srgbClr val="76F3FB"/>
                </a:solidFill>
                <a:latin typeface="Calibri"/>
              </a:rPr>
              <a:t>● </a:t>
            </a:r>
            <a:r>
              <a:rPr sz="1200">
                <a:solidFill>
                  <a:srgbClr val="E6DCF5"/>
                </a:solidFill>
                <a:latin typeface="Calibri"/>
              </a:rPr>
              <a:t>Texte scurte și informale (abrevieri, argou, greșeli intenționate) — metodele clasice funcționează slab aici.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>
                <a:solidFill>
                  <a:srgbClr val="76F3FB"/>
                </a:solidFill>
                <a:latin typeface="Calibri"/>
              </a:rPr>
              <a:t>● </a:t>
            </a:r>
            <a:r>
              <a:rPr sz="1200">
                <a:solidFill>
                  <a:srgbClr val="E6DCF5"/>
                </a:solidFill>
                <a:latin typeface="Calibri"/>
              </a:rPr>
              <a:t>Impact real: site-uri de știri false AI ×10 în 2023 (49→600+); 64% se tem de manipularea alegerilor (KPMG 2025).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1234440"/>
            <a:ext cx="3840480" cy="342900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00600" y="1234440"/>
            <a:ext cx="64008" cy="3429000"/>
          </a:xfrm>
          <a:prstGeom prst="rect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137160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76F3FB"/>
                </a:solidFill>
                <a:latin typeface="Calibri"/>
              </a:rPr>
              <a:t>Stadiul actual al cercetării (din 2019)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1783080"/>
            <a:ext cx="3520440" cy="1828800"/>
          </a:xfrm>
          <a:prstGeom prst="rect">
            <a:avLst/>
          </a:prstGeom>
          <a:noFill/>
        </p:spPr>
        <p:txBody>
          <a:bodyPr wrap="square" lIns="0" rIns="0" tIns="2540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>
                <a:solidFill>
                  <a:srgbClr val="AE77D6"/>
                </a:solidFill>
                <a:latin typeface="Calibri"/>
              </a:rPr>
              <a:t>● </a:t>
            </a:r>
            <a:r>
              <a:rPr sz="1200">
                <a:solidFill>
                  <a:srgbClr val="E6DCF5"/>
                </a:solidFill>
                <a:latin typeface="Calibri"/>
              </a:rPr>
              <a:t>Metode statistice — perplexitate, entropie (GLTR)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>
                <a:solidFill>
                  <a:srgbClr val="AE77D6"/>
                </a:solidFill>
                <a:latin typeface="Calibri"/>
              </a:rPr>
              <a:t>● </a:t>
            </a:r>
            <a:r>
              <a:rPr sz="1200">
                <a:solidFill>
                  <a:srgbClr val="E6DCF5"/>
                </a:solidFill>
                <a:latin typeface="Calibri"/>
              </a:rPr>
              <a:t>Watermarking — semnal ascuns la generare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>
                <a:solidFill>
                  <a:srgbClr val="AE77D6"/>
                </a:solidFill>
                <a:latin typeface="Calibri"/>
              </a:rPr>
              <a:t>● </a:t>
            </a:r>
            <a:r>
              <a:rPr sz="1200">
                <a:solidFill>
                  <a:srgbClr val="E6DCF5"/>
                </a:solidFill>
                <a:latin typeface="Calibri"/>
              </a:rPr>
              <a:t>Clasificatori supervizați — RoBERTa fine-tuned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>
                <a:solidFill>
                  <a:srgbClr val="AE77D6"/>
                </a:solidFill>
                <a:latin typeface="Calibri"/>
              </a:rPr>
              <a:t>● </a:t>
            </a:r>
            <a:r>
              <a:rPr sz="1200">
                <a:solidFill>
                  <a:srgbClr val="E6DCF5"/>
                </a:solidFill>
                <a:latin typeface="Calibri"/>
              </a:rPr>
              <a:t>Metode zero-shot — DetectGPT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83480" y="3703320"/>
            <a:ext cx="3474720" cy="18288"/>
          </a:xfrm>
          <a:prstGeom prst="rect">
            <a:avLst/>
          </a:prstGeom>
          <a:solidFill>
            <a:srgbClr val="A89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83480" y="3794760"/>
            <a:ext cx="3520440" cy="86868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FFB46B"/>
                </a:solidFill>
                <a:latin typeface="Calibri"/>
              </a:rPr>
              <a:t>Limitare comună: toate sunt evaluate pe texte lungi și formale, iar parafrazarea reduce acuratețea de la &gt;90% la &lt;50%.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17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3657600" cy="2057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76F3FB"/>
                </a:solidFill>
                <a:latin typeface="Calibri"/>
              </a:rPr>
              <a:t>OBIECTIVE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Ce mi-am propus să realizez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033271"/>
            <a:ext cx="777240" cy="41148"/>
          </a:xfrm>
          <a:prstGeom prst="rect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8646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A896C4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864608"/>
            <a:ext cx="73152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A896C4"/>
                </a:solidFill>
                <a:latin typeface="Calibri"/>
              </a:rPr>
              <a:t>3/10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5394960" cy="749808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64008" cy="749808"/>
          </a:xfrm>
          <a:prstGeom prst="rect">
            <a:avLst/>
          </a:prstGeom>
          <a:solidFill>
            <a:srgbClr val="AE7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517904"/>
            <a:ext cx="384048" cy="384048"/>
          </a:xfrm>
          <a:prstGeom prst="ellipse">
            <a:avLst/>
          </a:prstGeom>
          <a:solidFill>
            <a:srgbClr val="AE7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27048"/>
            <a:ext cx="384048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7173A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417320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AE77D6"/>
                </a:solidFill>
                <a:latin typeface="Calibri"/>
              </a:rPr>
              <a:t>Analiză critică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1709928"/>
            <a:ext cx="4526280" cy="347472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Studierea metodelor existente de detectare și a limitărilor lor pe rețelele sociale.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167128"/>
            <a:ext cx="5394960" cy="749808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167128"/>
            <a:ext cx="64008" cy="749808"/>
          </a:xfrm>
          <a:prstGeom prst="rect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2359152"/>
            <a:ext cx="384048" cy="384048"/>
          </a:xfrm>
          <a:prstGeom prst="ellipse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368296"/>
            <a:ext cx="384048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7173A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2258568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76F3FB"/>
                </a:solidFill>
                <a:latin typeface="Calibri"/>
              </a:rPr>
              <a:t>Soluție specializată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2551176"/>
            <a:ext cx="4526280" cy="347472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Detector bazat pe machine learning, antrenat specific pe texte scurte de social media (50-500 caractere).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008376"/>
            <a:ext cx="5394960" cy="749808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008376"/>
            <a:ext cx="64008" cy="749808"/>
          </a:xfrm>
          <a:prstGeom prst="rect">
            <a:avLst/>
          </a:prstGeom>
          <a:solidFill>
            <a:srgbClr val="729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13232" y="3200400"/>
            <a:ext cx="384048" cy="384048"/>
          </a:xfrm>
          <a:prstGeom prst="ellipse">
            <a:avLst/>
          </a:prstGeom>
          <a:solidFill>
            <a:srgbClr val="729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3209544"/>
            <a:ext cx="384048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7173A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099816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729BCB"/>
                </a:solidFill>
                <a:latin typeface="Calibri"/>
              </a:rPr>
              <a:t>Comparație de modele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3392424"/>
            <a:ext cx="4526280" cy="347472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Evaluarea sistematică a 3 clasificatori complementari pe același set de date.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849624"/>
            <a:ext cx="5394960" cy="749808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3849624"/>
            <a:ext cx="64008" cy="749808"/>
          </a:xfrm>
          <a:prstGeom prst="rect">
            <a:avLst/>
          </a:prstGeom>
          <a:solidFill>
            <a:srgbClr val="5DF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3232" y="4041648"/>
            <a:ext cx="384048" cy="384048"/>
          </a:xfrm>
          <a:prstGeom prst="ellipse">
            <a:avLst/>
          </a:prstGeom>
          <a:solidFill>
            <a:srgbClr val="5DF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4050791"/>
            <a:ext cx="384048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7173A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3941063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5DF0B0"/>
                </a:solidFill>
                <a:latin typeface="Calibri"/>
              </a:rPr>
              <a:t>Aplicație accesibilă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4233672"/>
            <a:ext cx="4526280" cy="347472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Interfață web cu justificarea transparentă a deciziilor, nu doar un scor final.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17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76F3FB"/>
                </a:solidFill>
                <a:latin typeface="Calibri"/>
              </a:rPr>
              <a:t>IMPLEMENTARE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Tehnologii utilizate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33271"/>
            <a:ext cx="777240" cy="41148"/>
          </a:xfrm>
          <a:prstGeom prst="rect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8646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A896C4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864608"/>
            <a:ext cx="73152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A896C4"/>
                </a:solidFill>
                <a:latin typeface="Calibri"/>
              </a:rPr>
              <a:t>4/10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1993392" cy="233172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1993392" cy="457200"/>
          </a:xfrm>
          <a:prstGeom prst="roundRect">
            <a:avLst/>
          </a:prstGeom>
          <a:solidFill>
            <a:srgbClr val="AE7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08760"/>
            <a:ext cx="1993392" cy="228600"/>
          </a:xfrm>
          <a:prstGeom prst="rect">
            <a:avLst/>
          </a:prstGeom>
          <a:solidFill>
            <a:srgbClr val="AE7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1993392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7173A"/>
                </a:solidFill>
                <a:latin typeface="Calibri"/>
              </a:rPr>
              <a:t>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74519"/>
            <a:ext cx="1764792" cy="1691640"/>
          </a:xfrm>
          <a:prstGeom prst="rect">
            <a:avLst/>
          </a:prstGeom>
          <a:noFill/>
        </p:spPr>
        <p:txBody>
          <a:bodyPr wrap="square" lIns="0" rIns="0" tIns="2540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AE77D6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Python 3.10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AE77D6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pandas — filtrare/echilibrare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AE77D6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datasets (HuggingFace) — streaming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06040" y="1280160"/>
            <a:ext cx="1993392" cy="233172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06040" y="1280160"/>
            <a:ext cx="1993392" cy="457200"/>
          </a:xfrm>
          <a:prstGeom prst="roundRect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6040" y="1508760"/>
            <a:ext cx="1993392" cy="228600"/>
          </a:xfrm>
          <a:prstGeom prst="rect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06040" y="1325880"/>
            <a:ext cx="1993392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7173A"/>
                </a:solidFill>
                <a:latin typeface="Calibri"/>
              </a:rPr>
              <a:t>ML clasic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1874519"/>
            <a:ext cx="1764792" cy="1691640"/>
          </a:xfrm>
          <a:prstGeom prst="rect">
            <a:avLst/>
          </a:prstGeom>
          <a:noFill/>
        </p:spPr>
        <p:txBody>
          <a:bodyPr wrap="square" lIns="0" rIns="0" tIns="2540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76F3FB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scikit-learn — NB, Reg. Logistică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76F3FB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TF-IDF (10.000, n-grame 1-2)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76F3FB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NLTK — cuvinte stop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60" y="1280160"/>
            <a:ext cx="1993392" cy="233172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709160" y="1280160"/>
            <a:ext cx="1993392" cy="457200"/>
          </a:xfrm>
          <a:prstGeom prst="roundRect">
            <a:avLst/>
          </a:prstGeom>
          <a:solidFill>
            <a:srgbClr val="729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09160" y="1508760"/>
            <a:ext cx="1993392" cy="228600"/>
          </a:xfrm>
          <a:prstGeom prst="rect">
            <a:avLst/>
          </a:prstGeom>
          <a:solidFill>
            <a:srgbClr val="729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9160" y="1325880"/>
            <a:ext cx="1993392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7173A"/>
                </a:solidFill>
                <a:latin typeface="Calibri"/>
              </a:rPr>
              <a:t>Deep Learning / NLP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1874519"/>
            <a:ext cx="1764792" cy="1691640"/>
          </a:xfrm>
          <a:prstGeom prst="rect">
            <a:avLst/>
          </a:prstGeom>
          <a:noFill/>
        </p:spPr>
        <p:txBody>
          <a:bodyPr wrap="square" lIns="0" rIns="0" tIns="2540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729BCB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PyTorch 2.x — GPU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729BCB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Transformers — RoBERTa-base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729BCB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SpaCy — NER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12280" y="1280160"/>
            <a:ext cx="1993392" cy="233172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12280" y="1280160"/>
            <a:ext cx="1993392" cy="457200"/>
          </a:xfrm>
          <a:prstGeom prst="roundRect">
            <a:avLst/>
          </a:prstGeom>
          <a:solidFill>
            <a:srgbClr val="5DF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12280" y="1508760"/>
            <a:ext cx="1993392" cy="228600"/>
          </a:xfrm>
          <a:prstGeom prst="rect">
            <a:avLst/>
          </a:prstGeom>
          <a:solidFill>
            <a:srgbClr val="5DF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1325880"/>
            <a:ext cx="1993392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7173A"/>
                </a:solidFill>
                <a:latin typeface="Calibri"/>
              </a:rPr>
              <a:t>Aplicație web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1874519"/>
            <a:ext cx="1764792" cy="1691640"/>
          </a:xfrm>
          <a:prstGeom prst="rect">
            <a:avLst/>
          </a:prstGeom>
          <a:noFill/>
        </p:spPr>
        <p:txBody>
          <a:bodyPr wrap="square" lIns="0" rIns="0" tIns="2540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5DF0B0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Flask 3.x — API REST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5DF0B0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HTML / CSS / JS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5DF0B0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Chart.js — vizualizări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794760"/>
            <a:ext cx="8138160" cy="868680"/>
          </a:xfrm>
          <a:prstGeom prst="roundRect">
            <a:avLst/>
          </a:prstGeom>
          <a:solidFill>
            <a:srgbClr val="3D26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794760"/>
            <a:ext cx="64008" cy="868680"/>
          </a:xfrm>
          <a:prstGeom prst="rect">
            <a:avLst/>
          </a:prstGeom>
          <a:solidFill>
            <a:srgbClr val="FFB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38862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B46B"/>
                </a:solidFill>
                <a:latin typeface="Calibri"/>
              </a:rPr>
              <a:t>Mediu de antrenare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4160520"/>
            <a:ext cx="7772400" cy="4572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Google Colaboratory · GPU NVIDIA Tesla T4 (15.6 GB VRAM) · precizie mixtă FP16 · antrenare RoBERTa ~85 min (3 epoci) · modele clasice &lt; 2 min · inferență locală pe CPU (0.5-2 s/text).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17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-1188720"/>
            <a:ext cx="3657600" cy="2057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76F3FB"/>
                </a:solidFill>
                <a:latin typeface="Calibri"/>
              </a:rPr>
              <a:t>ANALIZĂ PRELIMINARĂ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Ce am analizat pentru a stabili specificațiile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033271"/>
            <a:ext cx="777240" cy="41148"/>
          </a:xfrm>
          <a:prstGeom prst="rect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8646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A896C4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864608"/>
            <a:ext cx="73152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A896C4"/>
                </a:solidFill>
                <a:latin typeface="Calibri"/>
              </a:rPr>
              <a:t>5/10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3977639" cy="146304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64008" cy="1463040"/>
          </a:xfrm>
          <a:prstGeom prst="rect">
            <a:avLst/>
          </a:prstGeom>
          <a:solidFill>
            <a:srgbClr val="AE7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90472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AE77D6"/>
                </a:solidFill>
                <a:latin typeface="Calibri"/>
              </a:rPr>
              <a:t>Instrumente existente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856231"/>
            <a:ext cx="3566160" cy="18288"/>
          </a:xfrm>
          <a:prstGeom prst="rect">
            <a:avLst/>
          </a:prstGeom>
          <a:solidFill>
            <a:srgbClr val="A89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947672"/>
            <a:ext cx="3611880" cy="7772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E6DCF5"/>
                </a:solidFill>
                <a:latin typeface="Calibri"/>
              </a:rPr>
              <a:t>5 aplicații comerciale studiate (GPTZero, ZeroGPT, OpenAI Classifier, Originality.ai, Sapling) — toate slabe pe texte scurte.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325880"/>
            <a:ext cx="3977639" cy="146304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3440" y="1325880"/>
            <a:ext cx="64008" cy="1463040"/>
          </a:xfrm>
          <a:prstGeom prst="rect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1490472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76F3FB"/>
                </a:solidFill>
                <a:latin typeface="Calibri"/>
              </a:rPr>
              <a:t>Metode din literatură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92040" y="1856231"/>
            <a:ext cx="3566160" cy="18288"/>
          </a:xfrm>
          <a:prstGeom prst="rect">
            <a:avLst/>
          </a:prstGeom>
          <a:solidFill>
            <a:srgbClr val="A89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1947672"/>
            <a:ext cx="3611880" cy="7772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E6DCF5"/>
                </a:solidFill>
                <a:latin typeface="Calibri"/>
              </a:rPr>
              <a:t>4 categorii identificate (statistice, watermarking, supervizate, zero-shot) și limitările lor.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953512"/>
            <a:ext cx="3977639" cy="146304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953512"/>
            <a:ext cx="64008" cy="1463040"/>
          </a:xfrm>
          <a:prstGeom prst="rect">
            <a:avLst/>
          </a:prstGeom>
          <a:solidFill>
            <a:srgbClr val="729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118104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729BCB"/>
                </a:solidFill>
                <a:latin typeface="Calibri"/>
              </a:rPr>
              <a:t>Specificul social media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483864"/>
            <a:ext cx="3566160" cy="18288"/>
          </a:xfrm>
          <a:prstGeom prst="rect">
            <a:avLst/>
          </a:prstGeom>
          <a:solidFill>
            <a:srgbClr val="A89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575304"/>
            <a:ext cx="3611880" cy="7772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E6DCF5"/>
                </a:solidFill>
                <a:latin typeface="Calibri"/>
              </a:rPr>
              <a:t>Lungime mică, limbaj informal, abrevieri și greșeli intenționate îngreunează clasificarea.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2953512"/>
            <a:ext cx="3977639" cy="146304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63440" y="2953512"/>
            <a:ext cx="64008" cy="1463040"/>
          </a:xfrm>
          <a:prstGeom prst="rect">
            <a:avLst/>
          </a:prstGeom>
          <a:solidFill>
            <a:srgbClr val="5DF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92040" y="3118104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5DF0B0"/>
                </a:solidFill>
                <a:latin typeface="Calibri"/>
              </a:rPr>
              <a:t>Concluzii → specificații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92040" y="3483864"/>
            <a:ext cx="3566160" cy="18288"/>
          </a:xfrm>
          <a:prstGeom prst="rect">
            <a:avLst/>
          </a:prstGeom>
          <a:solidFill>
            <a:srgbClr val="A89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92040" y="3575304"/>
            <a:ext cx="3611880" cy="7772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E6DCF5"/>
                </a:solidFill>
                <a:latin typeface="Calibri"/>
              </a:rPr>
              <a:t>Set de date 50-500 caractere · comparație multi-model · justificare per cuvânt · procesare în lot.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17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76F3FB"/>
                </a:solidFill>
                <a:latin typeface="Calibri"/>
              </a:rPr>
              <a:t>PROIECTARE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Decizii de arhitectură și model de date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33271"/>
            <a:ext cx="777240" cy="41148"/>
          </a:xfrm>
          <a:prstGeom prst="rect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8646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A896C4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864608"/>
            <a:ext cx="73152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A896C4"/>
                </a:solidFill>
                <a:latin typeface="Calibri"/>
              </a:rPr>
              <a:t>6/10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4114800" cy="342900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64008" cy="3429000"/>
          </a:xfrm>
          <a:prstGeom prst="rect">
            <a:avLst/>
          </a:prstGeom>
          <a:solidFill>
            <a:srgbClr val="AE7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71600"/>
            <a:ext cx="3749039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77D6"/>
                </a:solidFill>
                <a:latin typeface="Calibri"/>
              </a:rPr>
              <a:t>Arhitectură software: client-server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783080"/>
            <a:ext cx="3794760" cy="1371600"/>
          </a:xfrm>
          <a:prstGeom prst="rect">
            <a:avLst/>
          </a:prstGeom>
          <a:noFill/>
        </p:spPr>
        <p:txBody>
          <a:bodyPr wrap="square" lIns="0" rIns="0" tIns="2540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950">
                <a:solidFill>
                  <a:srgbClr val="76F3FB"/>
                </a:solidFill>
                <a:latin typeface="Calibri"/>
              </a:rPr>
              <a:t>● </a:t>
            </a:r>
            <a:r>
              <a:rPr sz="1150">
                <a:solidFill>
                  <a:srgbClr val="E6DCF5"/>
                </a:solidFill>
                <a:latin typeface="Calibri"/>
              </a:rPr>
              <a:t>Backend Flask: încarcă cele 3 modele la pornire; endpoint-uri /predict și /batch.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950">
                <a:solidFill>
                  <a:srgbClr val="76F3FB"/>
                </a:solidFill>
                <a:latin typeface="Calibri"/>
              </a:rPr>
              <a:t>● </a:t>
            </a:r>
            <a:r>
              <a:rPr sz="1150">
                <a:solidFill>
                  <a:srgbClr val="E6DCF5"/>
                </a:solidFill>
                <a:latin typeface="Calibri"/>
              </a:rPr>
              <a:t>Frontend HTML/CSS/JS: vizualizări, comutare model în browser fără re-apel server.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0040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6F3FB"/>
                </a:solidFill>
                <a:latin typeface="Calibri"/>
              </a:rPr>
              <a:t>Trei modele complementare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566160"/>
            <a:ext cx="3794760" cy="1051560"/>
          </a:xfrm>
          <a:prstGeom prst="rect">
            <a:avLst/>
          </a:prstGeom>
          <a:noFill/>
        </p:spPr>
        <p:txBody>
          <a:bodyPr wrap="square" lIns="0" rIns="0" tIns="2540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950">
                <a:solidFill>
                  <a:srgbClr val="AE77D6"/>
                </a:solidFill>
                <a:latin typeface="Calibri"/>
              </a:rPr>
              <a:t>● </a:t>
            </a:r>
            <a:r>
              <a:rPr sz="1150">
                <a:solidFill>
                  <a:srgbClr val="E6DCF5"/>
                </a:solidFill>
                <a:latin typeface="Calibri"/>
              </a:rPr>
              <a:t>Naive Bayes &amp; Reg. Logistică (TF-IDF) — baseline rapid, interpretabil.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950">
                <a:solidFill>
                  <a:srgbClr val="AE77D6"/>
                </a:solidFill>
                <a:latin typeface="Calibri"/>
              </a:rPr>
              <a:t>● </a:t>
            </a:r>
            <a:r>
              <a:rPr sz="1150">
                <a:solidFill>
                  <a:srgbClr val="E6DCF5"/>
                </a:solidFill>
                <a:latin typeface="Calibri"/>
              </a:rPr>
              <a:t>RoBERTa fine-tuned (125M parametri) — model principal contextual.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00600" y="1234440"/>
            <a:ext cx="3840480" cy="342900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0600" y="1234440"/>
            <a:ext cx="64008" cy="3429000"/>
          </a:xfrm>
          <a:prstGeom prst="rect">
            <a:avLst/>
          </a:prstGeom>
          <a:solidFill>
            <a:srgbClr val="729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83480" y="137160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29BCB"/>
                </a:solidFill>
                <a:latin typeface="Calibri"/>
              </a:rPr>
              <a:t>Model de date: 6 surse combinate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1810512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● HC3 Reddit ELI5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810512"/>
            <a:ext cx="169164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896C4"/>
                </a:solidFill>
                <a:latin typeface="Calibri"/>
              </a:rPr>
              <a:t>perechi uman/AI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80" y="2139696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● TweetEval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139696"/>
            <a:ext cx="169164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896C4"/>
                </a:solidFill>
                <a:latin typeface="Calibri"/>
              </a:rPr>
              <a:t>tweets reale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2468880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● Reddit comentarii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468880"/>
            <a:ext cx="169164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896C4"/>
                </a:solidFill>
                <a:latin typeface="Calibri"/>
              </a:rPr>
              <a:t>limbaj informal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3480" y="2798064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● RAID (2024)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798064"/>
            <a:ext cx="169164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896C4"/>
                </a:solidFill>
                <a:latin typeface="Calibri"/>
              </a:rPr>
              <a:t>AI multi-model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83480" y="3127248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● AI_Human.csv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127248"/>
            <a:ext cx="169164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896C4"/>
                </a:solidFill>
                <a:latin typeface="Calibri"/>
              </a:rPr>
              <a:t>volum/diversitate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3456432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● AI Detection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3456432"/>
            <a:ext cx="169164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896C4"/>
                </a:solidFill>
                <a:latin typeface="Calibri"/>
              </a:rPr>
              <a:t>texte AI extra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83480" y="3822191"/>
            <a:ext cx="3474720" cy="18288"/>
          </a:xfrm>
          <a:prstGeom prst="rect">
            <a:avLst/>
          </a:prstGeom>
          <a:solidFill>
            <a:srgbClr val="A89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83480" y="3913632"/>
            <a:ext cx="3520440" cy="7315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DF0B0"/>
                </a:solidFill>
                <a:latin typeface="Calibri"/>
              </a:rPr>
              <a:t>45.834 exemple echilibrate 50/50 (uman/AI) · filtrate 50-500 caractere · împărțire stratificată 70/15/15.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17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468880"/>
            <a:ext cx="3291840" cy="18516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76F3FB"/>
                </a:solidFill>
                <a:latin typeface="Calibri"/>
              </a:rPr>
              <a:t>REALIZARE PRACTICĂ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Rezultate obținute  →  urmează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033271"/>
            <a:ext cx="777240" cy="41148"/>
          </a:xfrm>
          <a:prstGeom prst="rect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8646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A896C4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864608"/>
            <a:ext cx="73152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A896C4"/>
                </a:solidFill>
                <a:latin typeface="Calibri"/>
              </a:rPr>
              <a:t>7/10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4937760" cy="384048"/>
          </a:xfrm>
          <a:prstGeom prst="roundRect">
            <a:avLst/>
          </a:prstGeom>
          <a:solidFill>
            <a:srgbClr val="5A13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07592"/>
            <a:ext cx="1828800" cy="32918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1307592"/>
            <a:ext cx="1188720" cy="32918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Acuratețe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9080" y="1307592"/>
            <a:ext cx="1188720" cy="32918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F1-score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719072"/>
            <a:ext cx="4937760" cy="420624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719072"/>
            <a:ext cx="54864" cy="420624"/>
          </a:xfrm>
          <a:prstGeom prst="rect">
            <a:avLst/>
          </a:prstGeom>
          <a:solidFill>
            <a:srgbClr val="AE7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75564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Naive Bayes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1755648"/>
            <a:ext cx="1188720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E6DCF5"/>
                </a:solidFill>
                <a:latin typeface="Calibri"/>
              </a:rPr>
              <a:t>94.24%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9080" y="1755648"/>
            <a:ext cx="1188720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E6DCF5"/>
                </a:solidFill>
                <a:latin typeface="Calibri"/>
              </a:rPr>
              <a:t>94.17%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194560"/>
            <a:ext cx="4937760" cy="420624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194560"/>
            <a:ext cx="54864" cy="420624"/>
          </a:xfrm>
          <a:prstGeom prst="rect">
            <a:avLst/>
          </a:prstGeom>
          <a:solidFill>
            <a:srgbClr val="729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231136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Reg. Logistică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2231136"/>
            <a:ext cx="1188720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E6DCF5"/>
                </a:solidFill>
                <a:latin typeface="Calibri"/>
              </a:rPr>
              <a:t>96.71%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9080" y="2231136"/>
            <a:ext cx="1188720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E6DCF5"/>
                </a:solidFill>
                <a:latin typeface="Calibri"/>
              </a:rPr>
              <a:t>96.66%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670048"/>
            <a:ext cx="4937760" cy="420624"/>
          </a:xfrm>
          <a:prstGeom prst="roundRect">
            <a:avLst/>
          </a:prstGeom>
          <a:solidFill>
            <a:srgbClr val="3D26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670048"/>
            <a:ext cx="54864" cy="420624"/>
          </a:xfrm>
          <a:prstGeom prst="rect">
            <a:avLst/>
          </a:prstGeom>
          <a:solidFill>
            <a:srgbClr val="5DF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706624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RoBERTa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2706624"/>
            <a:ext cx="1188720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5DF0B0"/>
                </a:solidFill>
                <a:latin typeface="Calibri"/>
              </a:rPr>
              <a:t>99.17%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9080" y="2706624"/>
            <a:ext cx="1188720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5DF0B0"/>
                </a:solidFill>
                <a:latin typeface="Calibri"/>
              </a:rPr>
              <a:t>99.18%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24612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1">
                <a:solidFill>
                  <a:srgbClr val="A896C4"/>
                </a:solidFill>
                <a:latin typeface="Calibri"/>
              </a:rPr>
              <a:t>Testat pe 6.876 exemple (50/50). Pe sursele propriu-zise de social media: acuratețe &gt;99.5%.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0" y="1280160"/>
            <a:ext cx="2926080" cy="219456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15000" y="1280160"/>
            <a:ext cx="64008" cy="2194560"/>
          </a:xfrm>
          <a:prstGeom prst="rect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97880" y="138988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6F3FB"/>
                </a:solidFill>
                <a:latin typeface="Calibri"/>
              </a:rPr>
              <a:t>Demo aplicație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97880" y="1755648"/>
            <a:ext cx="2606040" cy="1691640"/>
          </a:xfrm>
          <a:prstGeom prst="rect">
            <a:avLst/>
          </a:prstGeom>
          <a:noFill/>
        </p:spPr>
        <p:txBody>
          <a:bodyPr wrap="square" lIns="0" rIns="0" tIns="2540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5DF0B0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Verdict + scor agregat de risc (0-100)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5DF0B0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Evidențiere cuvinte (Leave-One-Out)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5DF0B0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Comparație 3 modele simultan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5DF0B0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Procesare în lot CSV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3886200"/>
            <a:ext cx="8138160" cy="777240"/>
          </a:xfrm>
          <a:prstGeom prst="roundRect">
            <a:avLst/>
          </a:prstGeom>
          <a:solidFill>
            <a:srgbClr val="3D26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3886200"/>
            <a:ext cx="64008" cy="777240"/>
          </a:xfrm>
          <a:prstGeom prst="rect">
            <a:avLst/>
          </a:prstGeom>
          <a:solidFill>
            <a:srgbClr val="5DF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3968496"/>
            <a:ext cx="7772400" cy="64008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Confusion matrix RoBERTa: 3.388 uman corect · 3.431 AI corect · 50 fals-pozitive · 7 fals-negative — aproape toate erorile provin din texte formale, nu din social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17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926080"/>
            <a:ext cx="2377440" cy="133731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76F3FB"/>
                </a:solidFill>
                <a:latin typeface="Calibri"/>
              </a:rPr>
              <a:t>SINTEZĂ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Contribuții originale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033271"/>
            <a:ext cx="777240" cy="41148"/>
          </a:xfrm>
          <a:prstGeom prst="rect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8646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A896C4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864608"/>
            <a:ext cx="73152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A896C4"/>
                </a:solidFill>
                <a:latin typeface="Calibri"/>
              </a:rPr>
              <a:t>8/10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280160"/>
            <a:ext cx="457200" cy="566928"/>
          </a:xfrm>
          <a:prstGeom prst="ellipse">
            <a:avLst/>
          </a:prstGeom>
          <a:solidFill>
            <a:srgbClr val="AE7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99031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7173A"/>
                </a:solidFill>
                <a:latin typeface="Calibr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1280160"/>
            <a:ext cx="6949440" cy="566928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1335024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77D6"/>
                </a:solidFill>
                <a:latin typeface="Calibri"/>
              </a:rPr>
              <a:t>Set de date dedicat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335024"/>
            <a:ext cx="3977639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6 surse de social media combinate, focalizat pe texte scurte (50-500 car.).</a:t>
            </a:r>
          </a:p>
        </p:txBody>
      </p:sp>
      <p:sp>
        <p:nvSpPr>
          <p:cNvPr id="13" name="Oval 12"/>
          <p:cNvSpPr/>
          <p:nvPr/>
        </p:nvSpPr>
        <p:spPr>
          <a:xfrm>
            <a:off x="502920" y="1956815"/>
            <a:ext cx="457200" cy="566928"/>
          </a:xfrm>
          <a:prstGeom prst="ellipse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075687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7173A"/>
                </a:solidFill>
                <a:latin typeface="Calibri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1956815"/>
            <a:ext cx="6949440" cy="566928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2011679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6F3FB"/>
                </a:solidFill>
                <a:latin typeface="Calibri"/>
              </a:rPr>
              <a:t>Comparație 3 modele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011679"/>
            <a:ext cx="3977639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Naive Bayes, Reg. Logistică și RoBERTa evaluate în condiții identice.</a:t>
            </a:r>
          </a:p>
        </p:txBody>
      </p:sp>
      <p:sp>
        <p:nvSpPr>
          <p:cNvPr id="18" name="Oval 17"/>
          <p:cNvSpPr/>
          <p:nvPr/>
        </p:nvSpPr>
        <p:spPr>
          <a:xfrm>
            <a:off x="502920" y="2633472"/>
            <a:ext cx="457200" cy="566928"/>
          </a:xfrm>
          <a:prstGeom prst="ellipse">
            <a:avLst/>
          </a:prstGeom>
          <a:solidFill>
            <a:srgbClr val="729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752344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7173A"/>
                </a:solidFill>
                <a:latin typeface="Calibri"/>
              </a:rPr>
              <a:t>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97280" y="2633472"/>
            <a:ext cx="6949440" cy="566928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0160" y="2688336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29BCB"/>
                </a:solidFill>
                <a:latin typeface="Calibri"/>
              </a:rPr>
              <a:t>Justificare Leave-One-Out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2688336"/>
            <a:ext cx="3977639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Explicare la nivel de cuvânt — absentă în instrumentele comerciale.</a:t>
            </a:r>
          </a:p>
        </p:txBody>
      </p:sp>
      <p:sp>
        <p:nvSpPr>
          <p:cNvPr id="23" name="Oval 22"/>
          <p:cNvSpPr/>
          <p:nvPr/>
        </p:nvSpPr>
        <p:spPr>
          <a:xfrm>
            <a:off x="502920" y="3310127"/>
            <a:ext cx="457200" cy="566928"/>
          </a:xfrm>
          <a:prstGeom prst="ellipse">
            <a:avLst/>
          </a:prstGeom>
          <a:solidFill>
            <a:srgbClr val="5DF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428999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7173A"/>
                </a:solidFill>
                <a:latin typeface="Calibri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97280" y="3310127"/>
            <a:ext cx="6949440" cy="566928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3364991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DF0B0"/>
                </a:solidFill>
                <a:latin typeface="Calibri"/>
              </a:rPr>
              <a:t>Scor agregat de risc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920" y="3364991"/>
            <a:ext cx="3977639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Indicator 0-100 multi-semnal (RoBERTa 60% + fraze AI + statistici vocabular).</a:t>
            </a:r>
          </a:p>
        </p:txBody>
      </p:sp>
      <p:sp>
        <p:nvSpPr>
          <p:cNvPr id="28" name="Oval 27"/>
          <p:cNvSpPr/>
          <p:nvPr/>
        </p:nvSpPr>
        <p:spPr>
          <a:xfrm>
            <a:off x="502920" y="3986783"/>
            <a:ext cx="457200" cy="566928"/>
          </a:xfrm>
          <a:prstGeom prst="ellipse">
            <a:avLst/>
          </a:prstGeom>
          <a:solidFill>
            <a:srgbClr val="FFB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105655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7173A"/>
                </a:solidFill>
                <a:latin typeface="Calibri"/>
              </a:rPr>
              <a:t>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97280" y="3986783"/>
            <a:ext cx="6949440" cy="566928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0160" y="4041647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B46B"/>
                </a:solidFill>
                <a:latin typeface="Calibri"/>
              </a:rPr>
              <a:t>Aplicație web integrată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31920" y="4041647"/>
            <a:ext cx="3977639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Analiză, comparație, per-propoziție, NER, batch CSV — open-source.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17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-1280160"/>
            <a:ext cx="3657600" cy="2057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76F3FB"/>
                </a:solidFill>
                <a:latin typeface="Calibri"/>
              </a:rPr>
              <a:t>PERSPECTIVE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Dezvoltări viitoare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033271"/>
            <a:ext cx="777240" cy="41148"/>
          </a:xfrm>
          <a:prstGeom prst="rect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8646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A896C4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864608"/>
            <a:ext cx="73152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A896C4"/>
                </a:solidFill>
                <a:latin typeface="Calibri"/>
              </a:rPr>
              <a:t>9/10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3977639" cy="932688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64008" cy="932688"/>
          </a:xfrm>
          <a:prstGeom prst="rect">
            <a:avLst/>
          </a:prstGeom>
          <a:solidFill>
            <a:srgbClr val="AE7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44752"/>
            <a:ext cx="361188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77D6"/>
                </a:solidFill>
                <a:latin typeface="Calibri"/>
              </a:rPr>
              <a:t>Extindere multilingvă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83080"/>
            <a:ext cx="3611880" cy="41148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XLM-RoBERTa sau seturi de date dedicate, inclusiv pentru limba română.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325880"/>
            <a:ext cx="3977639" cy="932688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63440" y="1325880"/>
            <a:ext cx="64008" cy="932688"/>
          </a:xfrm>
          <a:prstGeom prst="rect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1444752"/>
            <a:ext cx="361188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6F3FB"/>
                </a:solidFill>
                <a:latin typeface="Calibri"/>
              </a:rPr>
              <a:t>Reantrenare periodică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1783080"/>
            <a:ext cx="3611880" cy="41148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Pe modele noi (GPT-4o, Claude, Gemini) — combaterea „concept drift”.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404872"/>
            <a:ext cx="3977639" cy="932688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2404872"/>
            <a:ext cx="64008" cy="932688"/>
          </a:xfrm>
          <a:prstGeom prst="rect">
            <a:avLst/>
          </a:prstGeom>
          <a:solidFill>
            <a:srgbClr val="729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23744"/>
            <a:ext cx="361188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29BCB"/>
                </a:solidFill>
                <a:latin typeface="Calibri"/>
              </a:rPr>
              <a:t>Robustețe la evitare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2862072"/>
            <a:ext cx="3611880" cy="41148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Testare sistematică împotriva parafrazării și „humanizării” textului.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63440" y="2404872"/>
            <a:ext cx="3977639" cy="932688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63440" y="2404872"/>
            <a:ext cx="64008" cy="932688"/>
          </a:xfrm>
          <a:prstGeom prst="rect">
            <a:avLst/>
          </a:prstGeom>
          <a:solidFill>
            <a:srgbClr val="5DF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92040" y="2523744"/>
            <a:ext cx="361188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DF0B0"/>
                </a:solidFill>
                <a:latin typeface="Calibri"/>
              </a:rPr>
              <a:t>Semnale comportamentale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2862072"/>
            <a:ext cx="3611880" cy="41148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Integrarea metadatelor de rețea (frecvență postare, profil cont).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483863"/>
            <a:ext cx="3977639" cy="932688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3483863"/>
            <a:ext cx="64008" cy="932688"/>
          </a:xfrm>
          <a:prstGeom prst="rect">
            <a:avLst/>
          </a:prstGeom>
          <a:solidFill>
            <a:srgbClr val="FFB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3602735"/>
            <a:ext cx="361188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B46B"/>
                </a:solidFill>
                <a:latin typeface="Calibri"/>
              </a:rPr>
              <a:t>Infrastructură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941063"/>
            <a:ext cx="3611880" cy="41148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Extensie de browser, API public REST, containerizare Docker.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3483863"/>
            <a:ext cx="3977639" cy="932688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63440" y="3483863"/>
            <a:ext cx="64008" cy="932688"/>
          </a:xfrm>
          <a:prstGeom prst="rect">
            <a:avLst/>
          </a:prstGeom>
          <a:solidFill>
            <a:srgbClr val="AE7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92040" y="3602735"/>
            <a:ext cx="361188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77D6"/>
                </a:solidFill>
                <a:latin typeface="Calibri"/>
              </a:rPr>
              <a:t>Calibrare scor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3941063"/>
            <a:ext cx="3611880" cy="41148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Optimizarea automată a ponderilor scorului agregat de risc.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17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45920" y="-1371600"/>
            <a:ext cx="4572000" cy="2571750"/>
          </a:xfrm>
          <a:prstGeom prst="rect">
            <a:avLst/>
          </a:prstGeom>
        </p:spPr>
      </p:pic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2560320"/>
            <a:ext cx="4572000" cy="2571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46304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 i="0">
                <a:solidFill>
                  <a:srgbClr val="FFFFFF"/>
                </a:solidFill>
                <a:latin typeface="Calibri"/>
              </a:rPr>
              <a:t>Vă mulțumesc pentru atenție!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 i="0">
                <a:solidFill>
                  <a:srgbClr val="76F3FB"/>
                </a:solidFill>
                <a:latin typeface="Calibri"/>
              </a:rPr>
              <a:t>Întrebări?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17320" y="3383280"/>
            <a:ext cx="1417320" cy="100584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349300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5DF0B0"/>
                </a:solidFill>
                <a:latin typeface="Calibri"/>
              </a:rPr>
              <a:t>99.17%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3977639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E6DCF5"/>
                </a:solidFill>
                <a:latin typeface="Calibri"/>
              </a:rPr>
              <a:t>Acuratețe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4952" y="3383280"/>
            <a:ext cx="1417320" cy="100584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349300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5DF0B0"/>
                </a:solidFill>
                <a:latin typeface="Calibri"/>
              </a:rPr>
              <a:t>45.834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4952" y="3977639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E6DCF5"/>
                </a:solidFill>
                <a:latin typeface="Calibri"/>
              </a:rPr>
              <a:t>Exemple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72584" y="3383280"/>
            <a:ext cx="1417320" cy="100584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2584" y="349300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5DF0B0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2584" y="3977639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E6DCF5"/>
                </a:solidFill>
                <a:latin typeface="Calibri"/>
              </a:rPr>
              <a:t>Modele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0216" y="3383280"/>
            <a:ext cx="1417320" cy="100584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349300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5DF0B0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3977639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E6DCF5"/>
                </a:solidFill>
                <a:latin typeface="Calibri"/>
              </a:rPr>
              <a:t>Contribuții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