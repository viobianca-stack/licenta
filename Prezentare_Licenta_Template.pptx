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9.svg" ContentType="image/svg+xml"/>
  <Override PartName="/ppt/media/image3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13.jpeg"/><Relationship Id="rId4" Type="http://schemas.openxmlformats.org/officeDocument/2006/relationships/image" Target="../media/image14.jpe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image" Target="../media/image9.jpe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svg"/><Relationship Id="rId5" Type="http://schemas.openxmlformats.org/officeDocument/2006/relationships/image" Target="../media/image30.png"/><Relationship Id="rId6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4" id="4"/>
          <p:cNvGrpSpPr/>
          <p:nvPr/>
        </p:nvGrpSpPr>
        <p:grpSpPr>
          <a:xfrm rot="0">
            <a:off x="-1130300" y="4057750"/>
            <a:ext cx="3086100" cy="2171499"/>
            <a:chOff x="0" y="0"/>
            <a:chExt cx="812800" cy="5719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67343" y="4057750"/>
            <a:ext cx="3086100" cy="2171499"/>
            <a:chOff x="0" y="0"/>
            <a:chExt cx="812800" cy="5719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657600" y="28575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06060"/>
                </a:solidFill>
                <a:latin typeface="Calibri"/>
              </a:rPr>
              <a:t>LUCRARE DE DIPLOMĂ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589020"/>
            <a:ext cx="12801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AAD"/>
                </a:solidFill>
                <a:latin typeface="Calibri"/>
              </a:rPr>
              <a:t>Detectarea mesajelor generate de AI</a:t>
            </a:r>
          </a:p>
          <a:p>
            <a:pPr algn="ctr"/>
            <a:r>
              <a:rPr sz="4000" b="1" i="0">
                <a:solidFill>
                  <a:srgbClr val="004AAD"/>
                </a:solidFill>
                <a:latin typeface="Calibri"/>
              </a:rPr>
              <a:t>pe rețelele sociale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7835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Absolvent: Bianca-Ștefania GHEORGHE</a:t>
            </a:r>
          </a:p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Coordonator: Conf.dr.ing. Daniel-Marian MEREZEANU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733806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06060"/>
                </a:solidFill>
                <a:latin typeface="Calibri"/>
              </a:rPr>
              <a:t>Universitatea Națională de Știință și Tehnologie POLITEHNICA București · Facultatea Automatică și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257175" y="4502250"/>
            <a:ext cx="18802350" cy="2006600"/>
            <a:chOff x="0" y="0"/>
            <a:chExt cx="4952059" cy="5284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52059" cy="528487"/>
            </a:xfrm>
            <a:custGeom>
              <a:avLst/>
              <a:gdLst/>
              <a:ahLst/>
              <a:cxnLst/>
              <a:rect r="r" b="b" t="t" l="l"/>
              <a:pathLst>
                <a:path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640080"/>
            <a:ext cx="1645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4AAD"/>
                </a:solidFill>
                <a:latin typeface="Calibri"/>
              </a:rPr>
              <a:t>Cuprins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554480"/>
            <a:ext cx="18288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0" y="25603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7249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Problema și stadiul actual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25603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27249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27889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Obiective și tehnologii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3891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45537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6177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Arhitectura sistemului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43891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45537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46177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Rezultate obținute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2179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3825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64465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Comparație cu state-of-the-art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62179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63825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Contribuții și demo aplicație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Problema și stadiul actual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03120"/>
            <a:ext cx="6766560" cy="54864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103120"/>
            <a:ext cx="201168" cy="54864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2578608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46888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LLM-urile (ChatGPT, GPT-4, Gemini) produc texte indistinctibile de cele umane.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3602736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493008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Rețelele sociale: publicare instant, fără filtrare → dezinformare rapidă.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4626864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517136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Texte scurte și informale (argou, abrevieri, greșeli) → metodele clasice dau greș.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5650992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5541264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Instrumentele existente sunt evaluate pe texte lungi și formale.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6675120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6565392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Parafrazarea scade acuratețea de la &gt;90% la &lt;50%.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955279"/>
            <a:ext cx="6766560" cy="13258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8183879"/>
            <a:ext cx="6217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2D7A"/>
                </a:solidFill>
                <a:latin typeface="Calibri"/>
              </a:rPr>
              <a:t>Niciun instrument comercial nu este optimizat</a:t>
            </a:r>
          </a:p>
          <a:p>
            <a:pPr algn="l"/>
            <a:r>
              <a:rPr sz="1700" b="1" i="0">
                <a:solidFill>
                  <a:srgbClr val="002D7A"/>
                </a:solidFill>
                <a:latin typeface="Calibri"/>
              </a:rPr>
              <a:t>pentru textele scurte de social media.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103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Peisajul metodelor de detecție (pipeline studiat în literatură)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3395266"/>
            <a:ext cx="9930384" cy="473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g_2_1_pipelin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59858"/>
            <a:ext cx="9601200" cy="440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Obiective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37744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37744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0" y="288036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03580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880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Analiză critică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6118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Metodele existente și limitările lor pe social media.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237744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0" y="237744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49840" y="288036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303580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2880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Soluție specializată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36118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Detector ML antrenat pe texte scurte (50-500 caractere).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566928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566928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45920" y="617220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632764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61722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Comparație de modele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9037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3 clasificatori complementari, condiții identice.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566928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566928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49840" y="617220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632764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0" y="61722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Aplicație accesibilă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0" y="69037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Interfață web cu justificare transparentă a deciziei.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Tehnologii utilizate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Python 3.10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pandas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datasets (HuggingFace)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6636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ML clasic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scikit-learn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TF-IDF (10k, n-grame 1-2)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NLTK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1832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836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PyTorch 2.x (GPU)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Transformers — RoBERTa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SpaCy 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7028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7028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4460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Aplicație web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Flask 3.x (REST)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HTML / CSS / JS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Chart.js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315200"/>
            <a:ext cx="16733520" cy="1828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7315200"/>
            <a:ext cx="228600" cy="1828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749807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Mediu de antrenare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046720"/>
            <a:ext cx="1600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Google Colab · GPU NVIDIA Tesla T4 (15.6 GB) · FP16 · RoBERTa ~85 min (3 epoci) · modele clasice &lt;2 min · inferență CPU 0.5-2 s/text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Arhitectura sistemului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Figura 3.2 — pipeline complet: surse → preprocesare → split → antrenare → evaluare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758337" y="2029968"/>
            <a:ext cx="6541725" cy="801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3_2_arhitectura_cle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2929" y="2194560"/>
            <a:ext cx="6212541" cy="7680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424160" y="2194560"/>
            <a:ext cx="7223760" cy="768096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424160" y="2194560"/>
            <a:ext cx="7223760" cy="13716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0" y="2377440"/>
            <a:ext cx="7223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45.834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370332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2D7A"/>
                </a:solidFill>
                <a:latin typeface="Calibri"/>
              </a:rPr>
              <a:t>echilibrate 50 / 50  ·  uman /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27080" y="4599432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452628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Filtrare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4910328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texte de 50-500 caractere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27080" y="5678424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560527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Split stratificat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59893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70 % train · 15 % val · 15 %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27080" y="6757416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668426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6 surse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7068312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HC3, TweetEval, Reddit, RAID,</a:t>
            </a:r>
          </a:p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AI_Human, AI Detection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27080" y="7836408"/>
            <a:ext cx="146304" cy="146304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0" y="776325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3 modele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8147304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Naive Bayes · Reg. Logistică · RoBERTa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909828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606060"/>
                </a:solidFill>
                <a:latin typeface="Calibri"/>
              </a:rPr>
              <a:t>Backend Flask (/predict, /batch) + frontend single-page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Rezultate obținute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Set de test: 6.876 exemple, echilibrat 50/50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Tabel 4.5 — Performanță comparativă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651760"/>
            <a:ext cx="141732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Acuratețe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2651760"/>
            <a:ext cx="137160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2651760"/>
            <a:ext cx="141732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0" y="2651760"/>
            <a:ext cx="137160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337560"/>
            <a:ext cx="23774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303642"/>
                </a:solidFill>
                <a:latin typeface="Calibri"/>
              </a:rPr>
              <a:t>Naive Bayes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3337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94.24%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337560"/>
            <a:ext cx="1371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94.17%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3337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95.35%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3337560"/>
            <a:ext cx="1371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93.02%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23360"/>
            <a:ext cx="237744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303642"/>
                </a:solidFill>
                <a:latin typeface="Calibri"/>
              </a:rPr>
              <a:t>Reg. Logistică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023360"/>
            <a:ext cx="141732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96.71%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4023360"/>
            <a:ext cx="137160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96.66%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4023360"/>
            <a:ext cx="141732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98.11%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4023360"/>
            <a:ext cx="137160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95.26%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709160"/>
            <a:ext cx="237744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002D7A"/>
                </a:solidFill>
                <a:latin typeface="Calibri"/>
              </a:rPr>
              <a:t>RoBERTa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4709160"/>
            <a:ext cx="141732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4709160"/>
            <a:ext cx="137160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99.18%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09160"/>
            <a:ext cx="141732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98.56%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4709160"/>
            <a:ext cx="137160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7955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RoBERTa depășește semnificativ modelele clasice:</a:t>
            </a:r>
          </a:p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+2.5 puncte față de Reg. Logistică, +5 puncte față de Naive Bayes.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949440"/>
            <a:ext cx="7955279" cy="219456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7178040"/>
            <a:ext cx="7406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Pe sursele de social media: acuratețe &gt; 99.5%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Doar 57 erori / 6.876 (50 fals-pozitive, 7 fals-negative)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Aproape toate erorile vin din texte formale, nu social media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Figura 4.1 — Confusion matrix + curba de antrenare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2288" y="4356898"/>
            <a:ext cx="8741664" cy="3173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ig_4_1_confusion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4521490"/>
            <a:ext cx="8412480" cy="2844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Mai bine decât state-of-the-art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Tabel 5.1 — soluția propusă vs. instrumentele comerciale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749039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Criteriu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19" y="2286000"/>
            <a:ext cx="246888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Soluția propusă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79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GPTZero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7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ZeroGPT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5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399" y="2286000"/>
            <a:ext cx="210312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Originality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4751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Sapling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9232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Acuratețe (social media)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19" y="2999232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99.17%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79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7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n/a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5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26%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399" y="299923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76%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44751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68-87%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12464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Texte scurte &lt;500 car.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19" y="3712464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Optimizat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79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Slab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7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Slab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5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F. slab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399" y="3712464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Moderat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44751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Moderat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25696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Justificare per cuvânt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4425696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 (LOO)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79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7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155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399" y="4425696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44751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138928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Comparație 3 modele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19" y="5138928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79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7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5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4399" y="5138928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44751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52160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Scor agregat multi-semnal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19" y="5852160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79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7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5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399" y="5852160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44751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6565392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Cost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19" y="6565392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Gratuit, open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79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Freemium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7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155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Retras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4399" y="6565392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Plată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44751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7278624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Transparență metodă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19" y="7278624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Cod public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79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Parțial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7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155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Parțial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44399" y="727862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44751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89119" y="2286000"/>
            <a:ext cx="2468880" cy="5705856"/>
          </a:xfrm>
          <a:prstGeom prst="rect">
            <a:avLst/>
          </a:prstGeom>
          <a:noFill/>
          <a:ln w="381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Contribuții originale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269748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5176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Set de date dedicat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29184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6 surse de social media, focalizat pe texte scurte (50-500 car.).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66344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66344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0749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02920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Comparație 3 modele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66928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NB, Reg. Logistică și RoBERTa în condiții identice.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04088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704088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88720" y="74523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5438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740664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804672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Explicare la nivel de cuvânt — absentă în tool-urile comerciale.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228600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228600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92640" y="269748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27889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265176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Scor agregat de risc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329184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0-100, multi-semnal: RoBERTa 60% + fraze AI 25% + vocabular 15%.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466344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0" y="466344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92640" y="50749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51663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502920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Aplicație web integrată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566928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Analiză, comparație, NER, per-propoziție, batch CSV — open-source.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8320" y="704088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18320" y="704088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92640" y="74523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0" y="75438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740664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Validare pe domeniu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804672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&gt;99.5% pe social media real, peste toate tool-urile comerciale.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Demo aplicație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Verdict + scor de risc · evidențiere cuvinte (Leave-One-Out) · comparație 3 modele · NER · batch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3377650"/>
            <a:ext cx="10661904" cy="49490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main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42242"/>
            <a:ext cx="10332720" cy="46198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808208" y="3995928"/>
            <a:ext cx="7095744" cy="3712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compare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416052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Dezvoltări viitoare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Extindere multilingvă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XLM-RoBERTa / seturi dedicate, inclusiv limba română.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Reantrenare periodică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Pe modele noi (GPT-4o, Claude, Gemini) — concept drift.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5296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25296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7300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Robustețe la evitare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7300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Testare împotriva parafrazării și „humanizării”.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Semnale comportamentale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Metadate de rețea: frecvență postare, profil cont.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Infrastructură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Extensie browser, API public REST, Docker.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5296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25296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300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Calibrare scor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7300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Optimizare automată a ponderilor scorului de risc.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698500" y="3124200"/>
            <a:ext cx="5245100" cy="1332778"/>
            <a:chOff x="0" y="0"/>
            <a:chExt cx="1381426" cy="3510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81426" cy="351020"/>
            </a:xfrm>
            <a:custGeom>
              <a:avLst/>
              <a:gdLst/>
              <a:ahLst/>
              <a:cxnLst/>
              <a:rect r="r" b="b" t="t" l="l"/>
              <a:pathLst>
                <a:path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741400" y="3124200"/>
            <a:ext cx="5118100" cy="1332778"/>
            <a:chOff x="0" y="0"/>
            <a:chExt cx="1347977" cy="3510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47977" cy="351020"/>
            </a:xfrm>
            <a:custGeom>
              <a:avLst/>
              <a:gdLst/>
              <a:ahLst/>
              <a:cxnLst/>
              <a:rect r="r" b="b" t="t" l="l"/>
              <a:pathLst>
                <a:path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616825" y="6705600"/>
            <a:ext cx="3054350" cy="761278"/>
            <a:chOff x="0" y="0"/>
            <a:chExt cx="804438" cy="2005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04438" cy="200501"/>
            </a:xfrm>
            <a:custGeom>
              <a:avLst/>
              <a:gdLst/>
              <a:ahLst/>
              <a:cxnLst/>
              <a:rect r="r" b="b" t="t" l="l"/>
              <a:pathLst>
                <a:path h="200501" w="804438">
                  <a:moveTo>
                    <a:pt x="100251" y="0"/>
                  </a:moveTo>
                  <a:lnTo>
                    <a:pt x="704187" y="0"/>
                  </a:lnTo>
                  <a:cubicBezTo>
                    <a:pt x="730775" y="0"/>
                    <a:pt x="756275" y="10562"/>
                    <a:pt x="775075" y="29363"/>
                  </a:cubicBezTo>
                  <a:cubicBezTo>
                    <a:pt x="793876" y="48163"/>
                    <a:pt x="804438" y="73662"/>
                    <a:pt x="804438" y="100251"/>
                  </a:cubicBezTo>
                  <a:lnTo>
                    <a:pt x="804438" y="100251"/>
                  </a:lnTo>
                  <a:cubicBezTo>
                    <a:pt x="804438" y="155617"/>
                    <a:pt x="759554" y="200501"/>
                    <a:pt x="704187" y="200501"/>
                  </a:cubicBezTo>
                  <a:lnTo>
                    <a:pt x="100251" y="200501"/>
                  </a:lnTo>
                  <a:cubicBezTo>
                    <a:pt x="44884" y="200501"/>
                    <a:pt x="0" y="155617"/>
                    <a:pt x="0" y="100251"/>
                  </a:cubicBezTo>
                  <a:lnTo>
                    <a:pt x="0" y="100251"/>
                  </a:lnTo>
                  <a:cubicBezTo>
                    <a:pt x="0" y="44884"/>
                    <a:pt x="44884" y="0"/>
                    <a:pt x="100251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804438" cy="2481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914400" y="3314700"/>
            <a:ext cx="1645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04AAD"/>
                </a:solidFill>
                <a:latin typeface="Calibri"/>
              </a:rPr>
              <a:t>Vă mulțumesc pentru atenție!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918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03642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66460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06060"/>
                </a:solidFill>
                <a:latin typeface="Calibri"/>
              </a:rPr>
              <a:t>Bianca-Ștefania GHEORGHE · Automatică și Calculatoare · POLITEHNICA București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