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9.svg" ContentType="image/svg+xml"/>
  <Override PartName="/ppt/media/image3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13.jpeg"/><Relationship Id="rId4" Type="http://schemas.openxmlformats.org/officeDocument/2006/relationships/image" Target="../media/image14.jpe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image" Target="../media/image8.jpeg"/><Relationship Id="rId4" Type="http://schemas.openxmlformats.org/officeDocument/2006/relationships/image" Target="../media/image9.jpe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svg"/><Relationship Id="rId5" Type="http://schemas.openxmlformats.org/officeDocument/2006/relationships/image" Target="../media/image30.png"/><Relationship Id="rId6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4" id="4"/>
          <p:cNvGrpSpPr/>
          <p:nvPr/>
        </p:nvGrpSpPr>
        <p:grpSpPr>
          <a:xfrm rot="0">
            <a:off x="-1130300" y="4057750"/>
            <a:ext cx="3086100" cy="2171499"/>
            <a:chOff x="0" y="0"/>
            <a:chExt cx="812800" cy="5719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467343" y="4057750"/>
            <a:ext cx="3086100" cy="2171499"/>
            <a:chOff x="0" y="0"/>
            <a:chExt cx="812800" cy="5719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3657600" y="28575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06060"/>
                </a:solidFill>
                <a:latin typeface="Calibri"/>
              </a:rPr>
              <a:t>LUCRARE DE DIPLOMA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589020"/>
            <a:ext cx="12801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AAD"/>
                </a:solidFill>
                <a:latin typeface="Calibri"/>
              </a:rPr>
              <a:t>Detectarea mesajelor generate de AI</a:t>
            </a:r>
          </a:p>
          <a:p>
            <a:pPr algn="ctr"/>
            <a:r>
              <a:rPr sz="4000" b="1" i="0">
                <a:solidFill>
                  <a:srgbClr val="004AAD"/>
                </a:solidFill>
                <a:latin typeface="Calibri"/>
              </a:rPr>
              <a:t>pe retelele sociale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7835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03642"/>
                </a:solidFill>
                <a:latin typeface="Calibri"/>
              </a:rPr>
              <a:t>Absolvent: Bianca-Stefania GHEORGHE</a:t>
            </a:r>
          </a:p>
          <a:p>
            <a:pPr algn="ctr"/>
            <a:r>
              <a:rPr sz="1800" b="0" i="0">
                <a:solidFill>
                  <a:srgbClr val="303642"/>
                </a:solidFill>
                <a:latin typeface="Calibri"/>
              </a:rPr>
              <a:t>Coordonator: Conf.dr.ing. Daniel-Marian MEREZEANU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733806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06060"/>
                </a:solidFill>
                <a:latin typeface="Calibri"/>
              </a:rPr>
              <a:t>Universitatea Nationala de Stiinta si Tehnologie POLITEHNICA Bucuresti · Facultatea Automatica si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257175" y="4502250"/>
            <a:ext cx="18802350" cy="2006600"/>
            <a:chOff x="0" y="0"/>
            <a:chExt cx="4952059" cy="5284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52059" cy="528487"/>
            </a:xfrm>
            <a:custGeom>
              <a:avLst/>
              <a:gdLst/>
              <a:ahLst/>
              <a:cxnLst/>
              <a:rect r="r" b="b" t="t" l="l"/>
              <a:pathLst>
                <a:path h="528487" w="4952059">
                  <a:moveTo>
                    <a:pt x="20999" y="0"/>
                  </a:moveTo>
                  <a:lnTo>
                    <a:pt x="4931060" y="0"/>
                  </a:lnTo>
                  <a:cubicBezTo>
                    <a:pt x="4936629" y="0"/>
                    <a:pt x="4941970" y="2212"/>
                    <a:pt x="4945909" y="6151"/>
                  </a:cubicBezTo>
                  <a:cubicBezTo>
                    <a:pt x="4949847" y="10089"/>
                    <a:pt x="4952059" y="15430"/>
                    <a:pt x="4952059" y="20999"/>
                  </a:cubicBezTo>
                  <a:lnTo>
                    <a:pt x="4952059" y="507488"/>
                  </a:lnTo>
                  <a:cubicBezTo>
                    <a:pt x="4952059" y="519086"/>
                    <a:pt x="4942658" y="528487"/>
                    <a:pt x="4931060" y="528487"/>
                  </a:cubicBezTo>
                  <a:lnTo>
                    <a:pt x="20999" y="528487"/>
                  </a:lnTo>
                  <a:cubicBezTo>
                    <a:pt x="15430" y="528487"/>
                    <a:pt x="10089" y="526275"/>
                    <a:pt x="6151" y="522337"/>
                  </a:cubicBezTo>
                  <a:cubicBezTo>
                    <a:pt x="2212" y="518399"/>
                    <a:pt x="0" y="513057"/>
                    <a:pt x="0" y="507488"/>
                  </a:cubicBezTo>
                  <a:lnTo>
                    <a:pt x="0" y="20999"/>
                  </a:lnTo>
                  <a:cubicBezTo>
                    <a:pt x="0" y="15430"/>
                    <a:pt x="2212" y="10089"/>
                    <a:pt x="6151" y="6151"/>
                  </a:cubicBezTo>
                  <a:cubicBezTo>
                    <a:pt x="10089" y="2212"/>
                    <a:pt x="15430" y="0"/>
                    <a:pt x="20999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52059" cy="5761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914400" y="640080"/>
            <a:ext cx="1645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4AAD"/>
                </a:solidFill>
                <a:latin typeface="Calibri"/>
              </a:rPr>
              <a:t>Cuprins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554480"/>
            <a:ext cx="18288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0" y="25603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7249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7889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Problema si stadiul actual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25603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27249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27889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Obiective si tehnologii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3891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45537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6177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Arhitectura sistemului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43891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45537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46177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Rezultate obtinute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2179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3825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64465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Comparatie cu state-of-the-art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621792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6382512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03642"/>
                </a:solidFill>
                <a:latin typeface="Calibri"/>
              </a:rPr>
              <a:t>Contributii si demo aplicatie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Problema si stadiul actual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6035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999"/>
              </a:lnSpc>
              <a:spcBef>
                <a:spcPts val="14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LLM-urile (ChatGPT, GPT-4, Gemini) produc texte
indistinctibile de cele umane.</a:t>
            </a:r>
          </a:p>
          <a:p>
            <a:pPr>
              <a:lnSpc>
                <a:spcPct val="114999"/>
              </a:lnSpc>
              <a:spcBef>
                <a:spcPts val="14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Retelele sociale = publicare instant, fara filtrare
→ dezinformare rapida.</a:t>
            </a:r>
          </a:p>
          <a:p>
            <a:pPr>
              <a:lnSpc>
                <a:spcPct val="114999"/>
              </a:lnSpc>
              <a:spcBef>
                <a:spcPts val="14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Texte scurte si informale: argou, abrevieri, greseli
→ metodele clasice dau gres.</a:t>
            </a:r>
          </a:p>
          <a:p>
            <a:pPr>
              <a:lnSpc>
                <a:spcPct val="114999"/>
              </a:lnSpc>
              <a:spcBef>
                <a:spcPts val="14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Instrumentele existente sunt evaluate pe texte
lungi si formale.</a:t>
            </a:r>
          </a:p>
          <a:p>
            <a:pPr>
              <a:lnSpc>
                <a:spcPct val="114999"/>
              </a:lnSpc>
              <a:spcBef>
                <a:spcPts val="14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Parafrazarea scade acuratetea de la &gt;90% la &lt;50%.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7955279"/>
            <a:ext cx="6035040" cy="128016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8138160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2D7A"/>
                </a:solidFill>
                <a:latin typeface="Calibri"/>
              </a:rPr>
              <a:t>Niciun instrument comercial nu este optimizat</a:t>
            </a:r>
          </a:p>
          <a:p>
            <a:pPr algn="l"/>
            <a:r>
              <a:rPr sz="1600" b="1" i="0">
                <a:solidFill>
                  <a:srgbClr val="002D7A"/>
                </a:solidFill>
                <a:latin typeface="Calibri"/>
              </a:rPr>
              <a:t>pentru textele scurte de social media.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Peisajul metodelor de detectie (pipeline studiat)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3339982"/>
            <a:ext cx="10570464" cy="50243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2_1_pipeline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3504574"/>
            <a:ext cx="10241280" cy="46951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Obiective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37744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37744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0" y="288036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03580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8803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Analiza critica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6118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Metodele existente si limitarile lor pe social media.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237744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0" y="237744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49840" y="288036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0" y="303580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28803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Solutie specializata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36118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Detector ML antrenat pe texte scurte (50-500 caractere).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566928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566928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45920" y="617220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632764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61722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Comparatie de modele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9037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3 clasificatori complementari, conditii identice.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5669280"/>
            <a:ext cx="7863840" cy="2743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5669280"/>
            <a:ext cx="228600" cy="27432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49840" y="6172200"/>
            <a:ext cx="1188720" cy="118872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6327648"/>
            <a:ext cx="1188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0" y="61722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AAD"/>
                </a:solidFill>
                <a:latin typeface="Calibri"/>
              </a:rPr>
              <a:t>Aplicatie accesibila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0" y="69037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Interfata web cu justificare transparenta a deciziei.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Tehnologii utilizate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Python 3.10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pandas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datasets (HuggingFace)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6636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ML clasic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scikit-learn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TF-IDF (10k, n-grame 1-2)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NLTK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1832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836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PyTorch 2.x (GPU)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Transformers — RoBERTa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SpaCy 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670280" y="2468880"/>
            <a:ext cx="3931920" cy="420624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70280" y="2468880"/>
            <a:ext cx="393192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44600" y="2606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Aplicatie web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0" y="356616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Flask 3.x (REST)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HTML / CSS / JS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Chart.js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315200"/>
            <a:ext cx="16733520" cy="1828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7315200"/>
            <a:ext cx="228600" cy="1828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749807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Mediu de antrenare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8046720"/>
            <a:ext cx="1600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Google Colab · GPU NVIDIA Tesla T4 (15.6 GB) · FP16 · RoBERTa ~85 min (3 epoci) · modele clasice &lt;2 min · inferenta CPU 0.5-2 s/text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Arhitectura sistemului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Figura 3.2 — pipeline complet: surse → preprocesare → split → antrenare → evaluare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1398" y="2029968"/>
            <a:ext cx="6615684" cy="81015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3_2_arhitectur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990" y="2194560"/>
            <a:ext cx="6286500" cy="7772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607040" y="2377440"/>
            <a:ext cx="7040880" cy="70408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265176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AAD"/>
                </a:solidFill>
                <a:latin typeface="Calibri"/>
              </a:rPr>
              <a:t>45.834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35204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303642"/>
                </a:solidFill>
                <a:latin typeface="Calibri"/>
              </a:rPr>
              <a:t>echilibrate 50/50  uman /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78640" y="4206240"/>
            <a:ext cx="4297680" cy="254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0" y="4434840"/>
            <a:ext cx="6035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Filtrate 50-500 caractere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Split stratificat 70 / 15 / 15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6 surse: HC3, TweetEval, Reddit, RAID,
  AI_Human, AI Detection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700">
                <a:solidFill>
                  <a:srgbClr val="303642"/>
                </a:solidFill>
                <a:latin typeface="Calibri"/>
              </a:rPr>
              <a:t>• 3 modele: Naive Bayes · Reg. Logistica · RoBERTa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8686800"/>
            <a:ext cx="6126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06060"/>
                </a:solidFill>
                <a:latin typeface="Calibri"/>
              </a:rPr>
              <a:t>Backend Flask (/predict, /batch) + frontend single-page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Rezultate obtinute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Set de test: 6.876 exemple, echilibrat 50/50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Tabel 4.5 — Performanta comparativa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51760"/>
            <a:ext cx="237744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651760"/>
            <a:ext cx="141732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Acuratete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2651760"/>
            <a:ext cx="137160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2651760"/>
            <a:ext cx="141732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0" y="2651760"/>
            <a:ext cx="1371600" cy="685800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337560"/>
            <a:ext cx="23774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303642"/>
                </a:solidFill>
                <a:latin typeface="Calibri"/>
              </a:rPr>
              <a:t>Naive Bayes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3337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94.24%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3337560"/>
            <a:ext cx="1371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94.17%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3337560"/>
            <a:ext cx="14173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95.35%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0" y="3337560"/>
            <a:ext cx="13716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93.02%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023360"/>
            <a:ext cx="237744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303642"/>
                </a:solidFill>
                <a:latin typeface="Calibri"/>
              </a:rPr>
              <a:t>Reg. Logistica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4023360"/>
            <a:ext cx="141732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96.71%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4023360"/>
            <a:ext cx="137160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96.66%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4023360"/>
            <a:ext cx="141732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98.11%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4023360"/>
            <a:ext cx="1371600" cy="685800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0">
                <a:solidFill>
                  <a:srgbClr val="303642"/>
                </a:solidFill>
                <a:latin typeface="Calibri"/>
              </a:rPr>
              <a:t>95.26%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709160"/>
            <a:ext cx="237744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500" b="1">
                <a:solidFill>
                  <a:srgbClr val="002D7A"/>
                </a:solidFill>
                <a:latin typeface="Calibri"/>
              </a:rPr>
              <a:t>RoBERTa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4709160"/>
            <a:ext cx="141732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99.17%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4709160"/>
            <a:ext cx="137160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99.18%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709160"/>
            <a:ext cx="141732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98.56%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4709160"/>
            <a:ext cx="1371600" cy="685800"/>
          </a:xfrm>
          <a:prstGeom prst="rect">
            <a:avLst/>
          </a:prstGeom>
          <a:solidFill>
            <a:srgbClr val="E8F0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500" b="1">
                <a:solidFill>
                  <a:srgbClr val="002D7A"/>
                </a:solidFill>
                <a:latin typeface="Calibri"/>
              </a:rPr>
              <a:t>99.80%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669280"/>
            <a:ext cx="79552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RoBERTa depaseste semnificativ modelele clasice:</a:t>
            </a:r>
          </a:p>
          <a:p>
            <a:pPr algn="l"/>
            <a:r>
              <a:rPr sz="1700" b="0" i="0">
                <a:solidFill>
                  <a:srgbClr val="303642"/>
                </a:solidFill>
                <a:latin typeface="Calibri"/>
              </a:rPr>
              <a:t>+2.5 puncte fata de Reg. Logistica, +5 puncte fata de Naive Bayes.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949440"/>
            <a:ext cx="7955279" cy="219456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7178040"/>
            <a:ext cx="7406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600">
                <a:solidFill>
                  <a:srgbClr val="002D7A"/>
                </a:solidFill>
                <a:latin typeface="Calibri"/>
              </a:rPr>
              <a:t>Pe sursele de social media: acuratete &gt; 99.5%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600">
                <a:solidFill>
                  <a:srgbClr val="002D7A"/>
                </a:solidFill>
                <a:latin typeface="Calibri"/>
              </a:rPr>
              <a:t>Doar 57 erori / 6.876 (50 fals-pozitive, 7 fals-negative)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600">
                <a:solidFill>
                  <a:srgbClr val="002D7A"/>
                </a:solidFill>
                <a:latin typeface="Calibri"/>
              </a:rPr>
              <a:t>Aproape toate erorile vin din texte formale, nu social media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Figura 4.1 — Confusion matrix + curba de antrenare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2288" y="4356898"/>
            <a:ext cx="8741664" cy="31734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ig_4_1_confusion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4521490"/>
            <a:ext cx="8412480" cy="28442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Mai bine decat state-of-the-art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Tabel 5.1 — solutia propusa vs. instrumentele comerciale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749039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Criteriu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19" y="2286000"/>
            <a:ext cx="246888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Solutia propusa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799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GPTZero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79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ZeroGPT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59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399" y="2286000"/>
            <a:ext cx="210312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Originality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47519" y="2286000"/>
            <a:ext cx="1828800" cy="713232"/>
          </a:xfrm>
          <a:prstGeom prst="rect">
            <a:avLst/>
          </a:prstGeom>
          <a:solidFill>
            <a:srgbClr val="004AAD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Sapling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9232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Acuratete (social media)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19" y="2999232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99.17%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799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79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n/a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59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26%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399" y="299923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76%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447519" y="299923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68-87%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12464"/>
            <a:ext cx="3749039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Texte scurte &lt;500 car.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19" y="3712464"/>
            <a:ext cx="246888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Optimizat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799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Slab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79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Slab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59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F. slab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399" y="3712464"/>
            <a:ext cx="210312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Moderat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447519" y="3712464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Moderat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25696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Justificare per cuvant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4425696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Da (LOO)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799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79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1559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399" y="4425696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447519" y="442569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138928"/>
            <a:ext cx="3749039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Comparatie 3 modele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19" y="5138928"/>
            <a:ext cx="246888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799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79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59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4399" y="5138928"/>
            <a:ext cx="210312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447519" y="5138928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52160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Scor agregat multi-semnal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19" y="5852160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799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79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59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399" y="5852160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447519" y="5852160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6565392"/>
            <a:ext cx="3749039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Cost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19" y="6565392"/>
            <a:ext cx="246888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Gratuit, open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799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Freemium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79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Gratuit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1559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Retras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344399" y="6565392"/>
            <a:ext cx="210312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Plata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447519" y="6565392"/>
            <a:ext cx="1828800" cy="713232"/>
          </a:xfrm>
          <a:prstGeom prst="rect">
            <a:avLst/>
          </a:prstGeom>
          <a:solidFill>
            <a:srgbClr val="F3F6FB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Gratuit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7278624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l"/>
            <a:r>
              <a:rPr sz="1400" b="1">
                <a:solidFill>
                  <a:srgbClr val="303642"/>
                </a:solidFill>
                <a:latin typeface="Calibri"/>
              </a:rPr>
              <a:t>Transparenta metoda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19" y="7278624"/>
            <a:ext cx="2468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Cod public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799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Partial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79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1559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44399" y="727862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447519" y="727862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 tIns="0" bIns="0"/>
          <a:lstStyle/>
          <a:p>
            <a:pPr algn="ctr"/>
            <a:r>
              <a:rPr sz="1400" b="0">
                <a:solidFill>
                  <a:srgbClr val="303642"/>
                </a:solidFill>
                <a:latin typeface="Calibri"/>
              </a:rPr>
              <a:t>Nu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89119" y="2286000"/>
            <a:ext cx="2468880" cy="5705856"/>
          </a:xfrm>
          <a:prstGeom prst="rect">
            <a:avLst/>
          </a:prstGeom>
          <a:noFill/>
          <a:ln w="381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Contributii originale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269748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889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5176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Set de date dedicat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29184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6 surse de social media, focalizat pe texte scurte (50-500 car.).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66344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66344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07492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02920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Comparatie 3 modele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66928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NB, Reg. Logistica si RoBERTa in conditii identice.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04088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704088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88720" y="74523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754380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740664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Justificare Leave-One-Out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804672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Explicare la nivel de cuvant — absenta in tool-urile comerciale.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228600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228600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92640" y="269748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27889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265176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Scor agregat de risc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329184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0-100, multi-semnal: RoBERTa 60% + fraze AI 25% + vocabular 15%.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466344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0" y="466344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92640" y="507492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0" y="51663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502920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Aplicatie web integrata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566928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Analiza, comparatie, NER, per-propozitie, batch CSV — open-source.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8320" y="7040880"/>
            <a:ext cx="7863840" cy="20116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18320" y="7040880"/>
            <a:ext cx="786384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92640" y="74523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0" y="754380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740664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Validare pe domeniu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8046720"/>
            <a:ext cx="6309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&gt;99.5% pe social media real, peste toate tool-urile comerciale.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Demo aplicatie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371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6060"/>
                </a:solidFill>
                <a:latin typeface="Calibri"/>
              </a:rPr>
              <a:t>Verdict + scor de risc · evidentiere cuvinte (Leave-One-Out) · comparatie 3 modele · NER · batch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3377650"/>
            <a:ext cx="10661904" cy="49490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pp_main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542242"/>
            <a:ext cx="10332720" cy="46198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808208" y="3995928"/>
            <a:ext cx="7095744" cy="3712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compare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416052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371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4AAD"/>
                </a:solidFill>
                <a:latin typeface="Calibri"/>
              </a:rPr>
              <a:t>Dezvoltari viitoare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3200400" cy="50800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093440" y="9601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06060"/>
                </a:solidFill>
                <a:latin typeface="Calibri"/>
              </a:rP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46888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Extindere multilingva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566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XLM-RoBERTa / seturi dedicate, inclusiv limba romana.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46888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4688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8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Reantrenare periodica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566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Pe modele noi (GPT-4o, Claude, Gemini) — concept drift.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52960" y="246888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252960" y="24688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73000" y="2788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Robustete la evitare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73000" y="35661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Testare impotriva parafrazarii si 'humanizarii'.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85216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585216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6172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Semnale comportamentale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69494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Metadate de retea: frecventa postare, profil cont.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585216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585216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6172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Infrastructura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69494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Extensie browser, API public REST, Docker.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252960" y="5852160"/>
            <a:ext cx="5303520" cy="292608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252960" y="585216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73000" y="6172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Calibrare scor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73000" y="69494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03642"/>
                </a:solidFill>
                <a:latin typeface="Calibri"/>
              </a:rPr>
              <a:t>Optimizare automata a ponderilor scorului de risc.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698500" y="3124200"/>
            <a:ext cx="5245100" cy="1332778"/>
            <a:chOff x="0" y="0"/>
            <a:chExt cx="1381426" cy="3510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81426" cy="351020"/>
            </a:xfrm>
            <a:custGeom>
              <a:avLst/>
              <a:gdLst/>
              <a:ahLst/>
              <a:cxnLst/>
              <a:rect r="r" b="b" t="t" l="l"/>
              <a:pathLst>
                <a:path h="351020" w="1381426">
                  <a:moveTo>
                    <a:pt x="75277" y="0"/>
                  </a:moveTo>
                  <a:lnTo>
                    <a:pt x="1306148" y="0"/>
                  </a:lnTo>
                  <a:cubicBezTo>
                    <a:pt x="1326113" y="0"/>
                    <a:pt x="1345260" y="7931"/>
                    <a:pt x="1359377" y="22048"/>
                  </a:cubicBezTo>
                  <a:cubicBezTo>
                    <a:pt x="1373495" y="36166"/>
                    <a:pt x="1381426" y="55313"/>
                    <a:pt x="1381426" y="75277"/>
                  </a:cubicBezTo>
                  <a:lnTo>
                    <a:pt x="1381426" y="275742"/>
                  </a:lnTo>
                  <a:cubicBezTo>
                    <a:pt x="1381426" y="295707"/>
                    <a:pt x="1373495" y="314854"/>
                    <a:pt x="1359377" y="328971"/>
                  </a:cubicBezTo>
                  <a:cubicBezTo>
                    <a:pt x="1345260" y="343089"/>
                    <a:pt x="1326113" y="351020"/>
                    <a:pt x="1306148" y="351020"/>
                  </a:cubicBezTo>
                  <a:lnTo>
                    <a:pt x="75277" y="351020"/>
                  </a:lnTo>
                  <a:cubicBezTo>
                    <a:pt x="55313" y="351020"/>
                    <a:pt x="36166" y="343089"/>
                    <a:pt x="22048" y="328971"/>
                  </a:cubicBezTo>
                  <a:cubicBezTo>
                    <a:pt x="7931" y="314854"/>
                    <a:pt x="0" y="295707"/>
                    <a:pt x="0" y="275742"/>
                  </a:cubicBezTo>
                  <a:lnTo>
                    <a:pt x="0" y="75277"/>
                  </a:lnTo>
                  <a:cubicBezTo>
                    <a:pt x="0" y="55313"/>
                    <a:pt x="7931" y="36166"/>
                    <a:pt x="22048" y="22048"/>
                  </a:cubicBezTo>
                  <a:cubicBezTo>
                    <a:pt x="36166" y="7931"/>
                    <a:pt x="55313" y="0"/>
                    <a:pt x="75277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381426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741400" y="3124200"/>
            <a:ext cx="5118100" cy="1332778"/>
            <a:chOff x="0" y="0"/>
            <a:chExt cx="1347977" cy="3510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47977" cy="351020"/>
            </a:xfrm>
            <a:custGeom>
              <a:avLst/>
              <a:gdLst/>
              <a:ahLst/>
              <a:cxnLst/>
              <a:rect r="r" b="b" t="t" l="l"/>
              <a:pathLst>
                <a:path h="351020" w="1347977">
                  <a:moveTo>
                    <a:pt x="77145" y="0"/>
                  </a:moveTo>
                  <a:lnTo>
                    <a:pt x="1270832" y="0"/>
                  </a:lnTo>
                  <a:cubicBezTo>
                    <a:pt x="1291292" y="0"/>
                    <a:pt x="1310914" y="8128"/>
                    <a:pt x="1325382" y="22595"/>
                  </a:cubicBezTo>
                  <a:cubicBezTo>
                    <a:pt x="1339849" y="37063"/>
                    <a:pt x="1347977" y="56685"/>
                    <a:pt x="1347977" y="77145"/>
                  </a:cubicBezTo>
                  <a:lnTo>
                    <a:pt x="1347977" y="273874"/>
                  </a:lnTo>
                  <a:cubicBezTo>
                    <a:pt x="1347977" y="316480"/>
                    <a:pt x="1313438" y="351020"/>
                    <a:pt x="1270832" y="351020"/>
                  </a:cubicBezTo>
                  <a:lnTo>
                    <a:pt x="77145" y="351020"/>
                  </a:lnTo>
                  <a:cubicBezTo>
                    <a:pt x="34539" y="351020"/>
                    <a:pt x="0" y="316480"/>
                    <a:pt x="0" y="273874"/>
                  </a:cubicBezTo>
                  <a:lnTo>
                    <a:pt x="0" y="77145"/>
                  </a:lnTo>
                  <a:cubicBezTo>
                    <a:pt x="0" y="34539"/>
                    <a:pt x="34539" y="0"/>
                    <a:pt x="77145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347977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616825" y="6705600"/>
            <a:ext cx="3054350" cy="761278"/>
            <a:chOff x="0" y="0"/>
            <a:chExt cx="804438" cy="2005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04438" cy="200501"/>
            </a:xfrm>
            <a:custGeom>
              <a:avLst/>
              <a:gdLst/>
              <a:ahLst/>
              <a:cxnLst/>
              <a:rect r="r" b="b" t="t" l="l"/>
              <a:pathLst>
                <a:path h="200501" w="804438">
                  <a:moveTo>
                    <a:pt x="100251" y="0"/>
                  </a:moveTo>
                  <a:lnTo>
                    <a:pt x="704187" y="0"/>
                  </a:lnTo>
                  <a:cubicBezTo>
                    <a:pt x="730775" y="0"/>
                    <a:pt x="756275" y="10562"/>
                    <a:pt x="775075" y="29363"/>
                  </a:cubicBezTo>
                  <a:cubicBezTo>
                    <a:pt x="793876" y="48163"/>
                    <a:pt x="804438" y="73662"/>
                    <a:pt x="804438" y="100251"/>
                  </a:cubicBezTo>
                  <a:lnTo>
                    <a:pt x="804438" y="100251"/>
                  </a:lnTo>
                  <a:cubicBezTo>
                    <a:pt x="804438" y="155617"/>
                    <a:pt x="759554" y="200501"/>
                    <a:pt x="704187" y="200501"/>
                  </a:cubicBezTo>
                  <a:lnTo>
                    <a:pt x="100251" y="200501"/>
                  </a:lnTo>
                  <a:cubicBezTo>
                    <a:pt x="44884" y="200501"/>
                    <a:pt x="0" y="155617"/>
                    <a:pt x="0" y="100251"/>
                  </a:cubicBezTo>
                  <a:lnTo>
                    <a:pt x="0" y="100251"/>
                  </a:lnTo>
                  <a:cubicBezTo>
                    <a:pt x="0" y="44884"/>
                    <a:pt x="44884" y="0"/>
                    <a:pt x="100251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804438" cy="2481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914400" y="3314700"/>
            <a:ext cx="1645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04AAD"/>
                </a:solidFill>
                <a:latin typeface="Calibri"/>
              </a:rPr>
              <a:t>Va multumesc pentru atentie!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918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03642"/>
                </a:solidFill>
                <a:latin typeface="Calibri"/>
              </a:rPr>
              <a:t>Detectarea mesajelor generate de AI pe retelele sociale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66460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06060"/>
                </a:solidFill>
                <a:latin typeface="Calibri"/>
              </a:rPr>
              <a:t>Bianca-Stefania GHEORGHE · Automatica si Calculatoare · POLITEHNICA Bucuresti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