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9.svg" ContentType="image/svg+xml"/>
  <Override PartName="/ppt/media/image3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eg"/><Relationship Id="rId3" Type="http://schemas.openxmlformats.org/officeDocument/2006/relationships/image" Target="../media/image28.pn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657600" y="28575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06060"/>
                </a:solidFill>
                <a:latin typeface="Calibri"/>
              </a:rPr>
              <a:t>LUCRARE DE DIPLOMĂ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89020"/>
            <a:ext cx="12801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AAD"/>
                </a:solidFill>
                <a:latin typeface="Calibri"/>
              </a:rPr>
              <a:t>Detectarea mesajelor generate de AI</a:t>
            </a:r>
          </a:p>
          <a:p>
            <a:pPr algn="ctr"/>
            <a:r>
              <a:rPr sz="4000" b="1" i="0">
                <a:solidFill>
                  <a:srgbClr val="004AAD"/>
                </a:solidFill>
                <a:latin typeface="Calibri"/>
              </a:rPr>
              <a:t>pe rețelele sociale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7835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03642"/>
                </a:solidFill>
                <a:latin typeface="Calibri"/>
              </a:rPr>
              <a:t>Absolvent: Bianca-Ștefania GHEORGHE</a:t>
            </a:r>
          </a:p>
          <a:p>
            <a:pPr algn="ctr"/>
            <a:r>
              <a:rPr sz="1800" b="0" i="0">
                <a:solidFill>
                  <a:srgbClr val="303642"/>
                </a:solidFill>
                <a:latin typeface="Calibri"/>
              </a:rPr>
              <a:t>Coordonator: Conf.dr.ing. Daniel-Marian MEREZEANU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733806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6060"/>
                </a:solidFill>
                <a:latin typeface="Calibri"/>
              </a:rPr>
              <a:t>Universitatea Națională de Știință și Tehnologie POLITEHNICA București · Facultatea Automatică și Calculatoare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0">
            <a:off x="-257175" y="450225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6400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4AAD"/>
                </a:solidFill>
                <a:latin typeface="Calibri"/>
              </a:rPr>
              <a:t>Cuprins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554480"/>
            <a:ext cx="1828800" cy="50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0" y="2560320"/>
            <a:ext cx="118872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724912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8892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3642"/>
                </a:solidFill>
                <a:latin typeface="Calibri"/>
              </a:rPr>
              <a:t>Problema și stadiul actual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2560320"/>
            <a:ext cx="118872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2724912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278892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3642"/>
                </a:solidFill>
                <a:latin typeface="Calibri"/>
              </a:rPr>
              <a:t>Obiective și tehnologii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4389120"/>
            <a:ext cx="118872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4553712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61772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3642"/>
                </a:solidFill>
                <a:latin typeface="Calibri"/>
              </a:rPr>
              <a:t>Arhitectura sistemului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4389120"/>
            <a:ext cx="118872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4553712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461772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3642"/>
                </a:solidFill>
                <a:latin typeface="Calibri"/>
              </a:rPr>
              <a:t>Rezultate obținute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6217920"/>
            <a:ext cx="118872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6382512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644652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3642"/>
                </a:solidFill>
                <a:latin typeface="Calibri"/>
              </a:rPr>
              <a:t>Comparație cu state-of-the-art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6217920"/>
            <a:ext cx="118872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382512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3642"/>
                </a:solidFill>
                <a:latin typeface="Calibri"/>
              </a:rPr>
              <a:t>Contribuții și demo aplicație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AAD"/>
                </a:solidFill>
                <a:latin typeface="Calibri"/>
              </a:rPr>
              <a:t>Problema și stadiul actual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3200400" cy="50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93440" y="9601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06060"/>
                </a:solidFill>
                <a:latin typeface="Calibri"/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  <a:spcBef>
                <a:spcPts val="14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LLM-urile (ChatGPT, GPT-4, Gemini) produc texte
indistinctibile de cele umane.</a:t>
            </a:r>
          </a:p>
          <a:p>
            <a:pPr>
              <a:lnSpc>
                <a:spcPct val="114999"/>
              </a:lnSpc>
              <a:spcBef>
                <a:spcPts val="14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Rețelele sociale = publicare instant, fără filtrare
→ dezinformare rapidă.</a:t>
            </a:r>
          </a:p>
          <a:p>
            <a:pPr>
              <a:lnSpc>
                <a:spcPct val="114999"/>
              </a:lnSpc>
              <a:spcBef>
                <a:spcPts val="14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Texte scurte și informale: argou, abrevieri, greșeli
→ metodele clasice dau greș.</a:t>
            </a:r>
          </a:p>
          <a:p>
            <a:pPr>
              <a:lnSpc>
                <a:spcPct val="114999"/>
              </a:lnSpc>
              <a:spcBef>
                <a:spcPts val="14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Instrumentele existente sunt evaluate pe texte
lungi și formale.</a:t>
            </a:r>
          </a:p>
          <a:p>
            <a:pPr>
              <a:lnSpc>
                <a:spcPct val="114999"/>
              </a:lnSpc>
              <a:spcBef>
                <a:spcPts val="14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Parafrazarea scade acuratețea de la &gt;90% la &lt;50%.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7955279"/>
            <a:ext cx="6035040" cy="128016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813816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D7A"/>
                </a:solidFill>
                <a:latin typeface="Calibri"/>
              </a:rPr>
              <a:t>Niciun instrument comercial nu este optimizat</a:t>
            </a:r>
          </a:p>
          <a:p>
            <a:pPr algn="l"/>
            <a:r>
              <a:rPr sz="1600" b="1" i="0">
                <a:solidFill>
                  <a:srgbClr val="002D7A"/>
                </a:solidFill>
                <a:latin typeface="Calibri"/>
              </a:rPr>
              <a:t>pentru textele scurte de social media.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6060"/>
                </a:solidFill>
                <a:latin typeface="Calibri"/>
              </a:rPr>
              <a:t>Peisajul metodelor de detecție (pipeline studiat)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0608" y="3339982"/>
            <a:ext cx="10570464" cy="50243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2_1_pipeline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504574"/>
            <a:ext cx="10241280" cy="46951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AAD"/>
                </a:solidFill>
                <a:latin typeface="Calibri"/>
              </a:rPr>
              <a:t>Obiective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3200400" cy="50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93440" y="9601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06060"/>
                </a:solidFill>
                <a:latin typeface="Calibri"/>
              </a:rPr>
              <a:t>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77440"/>
            <a:ext cx="7863840" cy="274320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377440"/>
            <a:ext cx="228600" cy="2743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2880360"/>
            <a:ext cx="118872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35808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880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4AAD"/>
                </a:solidFill>
                <a:latin typeface="Calibri"/>
              </a:rPr>
              <a:t>Analiză critică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6118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03642"/>
                </a:solidFill>
                <a:latin typeface="Calibri"/>
              </a:rPr>
              <a:t>Metodele existente și limitările lor pe social media.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2377440"/>
            <a:ext cx="7863840" cy="274320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2377440"/>
            <a:ext cx="228600" cy="2743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49840" y="2880360"/>
            <a:ext cx="118872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0" y="3035808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2880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4AAD"/>
                </a:solidFill>
                <a:latin typeface="Calibri"/>
              </a:rPr>
              <a:t>Soluție specializată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0" y="36118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03642"/>
                </a:solidFill>
                <a:latin typeface="Calibri"/>
              </a:rPr>
              <a:t>Detector ML antrenat pe texte scurte (50-500 caractere).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669280"/>
            <a:ext cx="7863840" cy="274320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5669280"/>
            <a:ext cx="228600" cy="2743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0" y="6172200"/>
            <a:ext cx="118872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6327648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6172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4AAD"/>
                </a:solidFill>
                <a:latin typeface="Calibri"/>
              </a:rPr>
              <a:t>Comparație de modele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9037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03642"/>
                </a:solidFill>
                <a:latin typeface="Calibri"/>
              </a:rPr>
              <a:t>3 clasificatori complementari, condiții identice.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5669280"/>
            <a:ext cx="7863840" cy="274320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5669280"/>
            <a:ext cx="228600" cy="2743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49840" y="6172200"/>
            <a:ext cx="118872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6327648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0" y="6172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4AAD"/>
                </a:solidFill>
                <a:latin typeface="Calibri"/>
              </a:rPr>
              <a:t>Aplicație accesibilă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0" y="69037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03642"/>
                </a:solidFill>
                <a:latin typeface="Calibri"/>
              </a:rPr>
              <a:t>Interfață web cu justificare transparentă a deciziei.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AAD"/>
                </a:solidFill>
                <a:latin typeface="Calibri"/>
              </a:rPr>
              <a:t>Tehnologii utilizate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3200400" cy="50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93440" y="9601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06060"/>
                </a:solidFill>
                <a:latin typeface="Calibri"/>
              </a:rPr>
              <a:t>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3931920" cy="420624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3931920" cy="8229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5661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Python 3.10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pandas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datasets (HuggingFace)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468880"/>
            <a:ext cx="3931920" cy="420624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6360" y="2468880"/>
            <a:ext cx="3931920" cy="8229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606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ML clasic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5661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scikit-learn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TF-IDF (10k, n-grame 1-2)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NLTK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2468880"/>
            <a:ext cx="3931920" cy="420624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18320" y="2468880"/>
            <a:ext cx="3931920" cy="8229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606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35661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PyTorch 2.x (GPU)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Transformers — RoBERTa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SpaCy 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670280" y="2468880"/>
            <a:ext cx="3931920" cy="420624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670280" y="2468880"/>
            <a:ext cx="3931920" cy="8229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44600" y="2606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Aplicație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0" y="35661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Flask 3.x (REST)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HTML / CSS / JS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Chart.js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7315200"/>
            <a:ext cx="16733520" cy="18288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315200"/>
            <a:ext cx="228600" cy="1828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74980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4AAD"/>
                </a:solidFill>
                <a:latin typeface="Calibri"/>
              </a:rPr>
              <a:t>Mediu de antrenare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8046720"/>
            <a:ext cx="1600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03642"/>
                </a:solidFill>
                <a:latin typeface="Calibri"/>
              </a:rPr>
              <a:t>Google Colab · GPU NVIDIA Tesla T4 (15.6 GB) · FP16 · RoBERTa ~85 min (3 epoci) · modele clasice &lt;2 min · inferență CPU 0.5-2 s/text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AAD"/>
                </a:solidFill>
                <a:latin typeface="Calibri"/>
              </a:rPr>
              <a:t>Arhitectura sistemului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3200400" cy="50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6060"/>
                </a:solidFill>
                <a:latin typeface="Calibri"/>
              </a:rPr>
              <a:t>Figura 3.2 — pipeline complet: surse → preprocesare → split → antrenare → evaluare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93440" y="9601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06060"/>
                </a:solidFill>
                <a:latin typeface="Calibri"/>
              </a:rPr>
              <a:t>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2041398" y="2029968"/>
            <a:ext cx="6615684" cy="8101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3_2_arhitectura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90" y="2194560"/>
            <a:ext cx="6286500" cy="7772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607040" y="2377440"/>
            <a:ext cx="7040880" cy="7040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265176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AAD"/>
                </a:solidFill>
                <a:latin typeface="Calibri"/>
              </a:rPr>
              <a:t>45.834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35204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303642"/>
                </a:solidFill>
                <a:latin typeface="Calibri"/>
              </a:rPr>
              <a:t>echilibrate 50/50  uman /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78640" y="4206240"/>
            <a:ext cx="4297680" cy="254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443484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Filtrate 50-500 caractere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Split stratificat 70 / 15 / 15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6 surse: HC3, TweetEval, Reddit, RAID,
  AI_Human, AI Detection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700">
                <a:solidFill>
                  <a:srgbClr val="303642"/>
                </a:solidFill>
                <a:latin typeface="Calibri"/>
              </a:rPr>
              <a:t>• 3 modele: Naive Bayes · Reg. Logistică · RoBERTa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86868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06060"/>
                </a:solidFill>
                <a:latin typeface="Calibri"/>
              </a:rPr>
              <a:t>Backend Flask (/predict, /batch) + frontend single-page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AAD"/>
                </a:solidFill>
                <a:latin typeface="Calibri"/>
              </a:rPr>
              <a:t>Rezultate obținute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3200400" cy="50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6060"/>
                </a:solidFill>
                <a:latin typeface="Calibri"/>
              </a:rPr>
              <a:t>Set de test: 6.876 exemple, echilibrat 50/50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93440" y="9601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06060"/>
                </a:solidFill>
                <a:latin typeface="Calibr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AAD"/>
                </a:solidFill>
                <a:latin typeface="Calibri"/>
              </a:rPr>
              <a:t>Tabel 4.5 — Performanță comparativă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2377440" cy="685800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651760"/>
            <a:ext cx="1417320" cy="685800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Acuratețe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2651760"/>
            <a:ext cx="1371600" cy="685800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651760"/>
            <a:ext cx="1417320" cy="685800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651760"/>
            <a:ext cx="1371600" cy="685800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37560"/>
            <a:ext cx="2377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500" b="1">
                <a:solidFill>
                  <a:srgbClr val="303642"/>
                </a:solidFill>
                <a:latin typeface="Calibri"/>
              </a:rPr>
              <a:t>Naive Bayes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3337560"/>
            <a:ext cx="1417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0">
                <a:solidFill>
                  <a:srgbClr val="303642"/>
                </a:solidFill>
                <a:latin typeface="Calibri"/>
              </a:rPr>
              <a:t>94.24%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337560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0">
                <a:solidFill>
                  <a:srgbClr val="303642"/>
                </a:solidFill>
                <a:latin typeface="Calibri"/>
              </a:rPr>
              <a:t>94.17%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337560"/>
            <a:ext cx="1417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0">
                <a:solidFill>
                  <a:srgbClr val="303642"/>
                </a:solidFill>
                <a:latin typeface="Calibri"/>
              </a:rPr>
              <a:t>95.35%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3337560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0">
                <a:solidFill>
                  <a:srgbClr val="303642"/>
                </a:solidFill>
                <a:latin typeface="Calibri"/>
              </a:rPr>
              <a:t>93.02%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23360"/>
            <a:ext cx="2377440" cy="685800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500" b="1">
                <a:solidFill>
                  <a:srgbClr val="303642"/>
                </a:solidFill>
                <a:latin typeface="Calibri"/>
              </a:rPr>
              <a:t>Reg. Logistică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4023360"/>
            <a:ext cx="1417320" cy="685800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0">
                <a:solidFill>
                  <a:srgbClr val="303642"/>
                </a:solidFill>
                <a:latin typeface="Calibri"/>
              </a:rPr>
              <a:t>96.71%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4023360"/>
            <a:ext cx="1371600" cy="685800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0">
                <a:solidFill>
                  <a:srgbClr val="303642"/>
                </a:solidFill>
                <a:latin typeface="Calibri"/>
              </a:rPr>
              <a:t>96.66%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4023360"/>
            <a:ext cx="1417320" cy="685800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0">
                <a:solidFill>
                  <a:srgbClr val="303642"/>
                </a:solidFill>
                <a:latin typeface="Calibri"/>
              </a:rPr>
              <a:t>98.11%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4023360"/>
            <a:ext cx="1371600" cy="685800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0">
                <a:solidFill>
                  <a:srgbClr val="303642"/>
                </a:solidFill>
                <a:latin typeface="Calibri"/>
              </a:rPr>
              <a:t>95.26%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709160"/>
            <a:ext cx="2377440" cy="685800"/>
          </a:xfrm>
          <a:prstGeom prst="rect">
            <a:avLst/>
          </a:prstGeom>
          <a:solidFill>
            <a:srgbClr val="E8F0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500" b="1">
                <a:solidFill>
                  <a:srgbClr val="002D7A"/>
                </a:solidFill>
                <a:latin typeface="Calibri"/>
              </a:rPr>
              <a:t>RoBERTa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709160"/>
            <a:ext cx="1417320" cy="685800"/>
          </a:xfrm>
          <a:prstGeom prst="rect">
            <a:avLst/>
          </a:prstGeom>
          <a:solidFill>
            <a:srgbClr val="E8F0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1">
                <a:solidFill>
                  <a:srgbClr val="002D7A"/>
                </a:solidFill>
                <a:latin typeface="Calibri"/>
              </a:rPr>
              <a:t>99.17%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4709160"/>
            <a:ext cx="1371600" cy="685800"/>
          </a:xfrm>
          <a:prstGeom prst="rect">
            <a:avLst/>
          </a:prstGeom>
          <a:solidFill>
            <a:srgbClr val="E8F0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1">
                <a:solidFill>
                  <a:srgbClr val="002D7A"/>
                </a:solidFill>
                <a:latin typeface="Calibri"/>
              </a:rPr>
              <a:t>99.18%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709160"/>
            <a:ext cx="1417320" cy="685800"/>
          </a:xfrm>
          <a:prstGeom prst="rect">
            <a:avLst/>
          </a:prstGeom>
          <a:solidFill>
            <a:srgbClr val="E8F0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1">
                <a:solidFill>
                  <a:srgbClr val="002D7A"/>
                </a:solidFill>
                <a:latin typeface="Calibri"/>
              </a:rPr>
              <a:t>98.56%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4709160"/>
            <a:ext cx="1371600" cy="685800"/>
          </a:xfrm>
          <a:prstGeom prst="rect">
            <a:avLst/>
          </a:prstGeom>
          <a:solidFill>
            <a:srgbClr val="E8F0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500" b="1">
                <a:solidFill>
                  <a:srgbClr val="002D7A"/>
                </a:solidFill>
                <a:latin typeface="Calibri"/>
              </a:rPr>
              <a:t>99.80%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79552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03642"/>
                </a:solidFill>
                <a:latin typeface="Calibri"/>
              </a:rPr>
              <a:t>RoBERTa depășește semnificativ modelele clasice:</a:t>
            </a:r>
          </a:p>
          <a:p>
            <a:pPr algn="l"/>
            <a:r>
              <a:rPr sz="1700" b="0" i="0">
                <a:solidFill>
                  <a:srgbClr val="303642"/>
                </a:solidFill>
                <a:latin typeface="Calibri"/>
              </a:rPr>
              <a:t>+2.5 puncte față de Reg. Logistică, +5 puncte față de Naive Bayes.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6949440"/>
            <a:ext cx="7955279" cy="219456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7178040"/>
            <a:ext cx="7406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600">
                <a:solidFill>
                  <a:srgbClr val="002D7A"/>
                </a:solidFill>
                <a:latin typeface="Calibri"/>
              </a:rPr>
              <a:t>Pe sursele de social media: acuratețe &gt; 99.5%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600">
                <a:solidFill>
                  <a:srgbClr val="002D7A"/>
                </a:solidFill>
                <a:latin typeface="Calibri"/>
              </a:rPr>
              <a:t>Doar 57 erori / 6.876 (50 fals-pozitive, 7 fals-negative)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600">
                <a:solidFill>
                  <a:srgbClr val="002D7A"/>
                </a:solidFill>
                <a:latin typeface="Calibri"/>
              </a:rPr>
              <a:t>Aproape toate erorile vin din texte formale, nu social media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AAD"/>
                </a:solidFill>
                <a:latin typeface="Calibri"/>
              </a:rPr>
              <a:t>Figura 4.1 — Confusion matrix + curba de antrenare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62288" y="4356898"/>
            <a:ext cx="8741664" cy="31734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ig_4_1_confus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4521490"/>
            <a:ext cx="8412480" cy="28442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AAD"/>
                </a:solidFill>
                <a:latin typeface="Calibri"/>
              </a:rPr>
              <a:t>Mai bine decât state-of-the-art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3200400" cy="50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6060"/>
                </a:solidFill>
                <a:latin typeface="Calibri"/>
              </a:rPr>
              <a:t>Tabel 5.1 — soluția propusă vs. instrumentele comerciale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93440" y="9601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06060"/>
                </a:solidFill>
                <a:latin typeface="Calibri"/>
              </a:rPr>
              <a:t>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3749039" cy="713232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Criteriu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19" y="2286000"/>
            <a:ext cx="2468880" cy="713232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Soluția propusă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7999" y="2286000"/>
            <a:ext cx="1828800" cy="713232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GPTZero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799" y="2286000"/>
            <a:ext cx="1828800" cy="713232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ZeroGPT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599" y="2286000"/>
            <a:ext cx="1828800" cy="713232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399" y="2286000"/>
            <a:ext cx="2103120" cy="713232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Originality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19" y="2286000"/>
            <a:ext cx="1828800" cy="713232"/>
          </a:xfrm>
          <a:prstGeom prst="rect">
            <a:avLst/>
          </a:prstGeom>
          <a:solidFill>
            <a:srgbClr val="004AAD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Sapling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99232"/>
            <a:ext cx="374903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400" b="1">
                <a:solidFill>
                  <a:srgbClr val="303642"/>
                </a:solidFill>
                <a:latin typeface="Calibri"/>
              </a:rPr>
              <a:t>Acuratețe (social media)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19" y="2999232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99.17%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7999" y="299923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799" y="299923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n/a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599" y="299923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26%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399" y="2999232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76%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47519" y="299923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68-87%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12464"/>
            <a:ext cx="3749039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400" b="1">
                <a:solidFill>
                  <a:srgbClr val="303642"/>
                </a:solidFill>
                <a:latin typeface="Calibri"/>
              </a:rPr>
              <a:t>Texte scurte &lt;500 car.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19" y="3712464"/>
            <a:ext cx="246888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Optimizat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7999" y="3712464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Slab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799" y="3712464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Slab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599" y="3712464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F. slab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399" y="3712464"/>
            <a:ext cx="210312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Moderat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47519" y="3712464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Moderat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25696"/>
            <a:ext cx="374903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400" b="1">
                <a:solidFill>
                  <a:srgbClr val="303642"/>
                </a:solidFill>
                <a:latin typeface="Calibri"/>
              </a:rPr>
              <a:t>Justificare per cuvânt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19" y="4425696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Da (LOO)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7999" y="4425696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799" y="4425696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599" y="4425696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399" y="4425696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47519" y="4425696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138928"/>
            <a:ext cx="3749039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400" b="1">
                <a:solidFill>
                  <a:srgbClr val="303642"/>
                </a:solidFill>
                <a:latin typeface="Calibri"/>
              </a:rPr>
              <a:t>Comparație 3 modele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19" y="5138928"/>
            <a:ext cx="246888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7999" y="5138928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799" y="5138928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599" y="5138928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4399" y="5138928"/>
            <a:ext cx="210312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447519" y="5138928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852160"/>
            <a:ext cx="374903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400" b="1">
                <a:solidFill>
                  <a:srgbClr val="303642"/>
                </a:solidFill>
                <a:latin typeface="Calibri"/>
              </a:rPr>
              <a:t>Scor agregat multi-semnal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19" y="5852160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7999" y="585216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799" y="585216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15599" y="585216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4399" y="5852160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447519" y="585216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6565392"/>
            <a:ext cx="3749039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400" b="1">
                <a:solidFill>
                  <a:srgbClr val="303642"/>
                </a:solidFill>
                <a:latin typeface="Calibri"/>
              </a:rPr>
              <a:t>Cost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19" y="6565392"/>
            <a:ext cx="246888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Gratuit, open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7999" y="6565392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Freemium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799" y="6565392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Gratuit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15599" y="6565392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Retras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344399" y="6565392"/>
            <a:ext cx="210312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Plată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447519" y="6565392"/>
            <a:ext cx="1828800" cy="713232"/>
          </a:xfrm>
          <a:prstGeom prst="rect">
            <a:avLst/>
          </a:prstGeom>
          <a:solidFill>
            <a:srgbClr val="F3F6FB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Gratuit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7278624"/>
            <a:ext cx="374903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/>
            <a:r>
              <a:rPr sz="1400" b="1">
                <a:solidFill>
                  <a:srgbClr val="303642"/>
                </a:solidFill>
                <a:latin typeface="Calibri"/>
              </a:rPr>
              <a:t>Transparență metodă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19" y="7278624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Cod public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7999" y="727862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Parțial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799" y="727862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15599" y="727862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Parțial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344399" y="7278624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447519" y="727862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ctr"/>
            <a:r>
              <a:rPr sz="1400" b="0">
                <a:solidFill>
                  <a:srgbClr val="303642"/>
                </a:solidFill>
                <a:latin typeface="Calibri"/>
              </a:rPr>
              <a:t>Nu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19" y="2286000"/>
            <a:ext cx="2468880" cy="5705856"/>
          </a:xfrm>
          <a:prstGeom prst="rect">
            <a:avLst/>
          </a:prstGeom>
          <a:noFill/>
          <a:ln w="381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AAD"/>
                </a:solidFill>
                <a:latin typeface="Calibri"/>
              </a:rPr>
              <a:t>Contribuții originale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3200400" cy="50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93440" y="9601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06060"/>
                </a:solidFill>
                <a:latin typeface="Calibri"/>
              </a:rPr>
              <a:t>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863840" cy="20116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786384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2697480"/>
            <a:ext cx="822960" cy="8229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5176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Set de date dedicat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9184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03642"/>
                </a:solidFill>
                <a:latin typeface="Calibri"/>
              </a:rPr>
              <a:t>6 surse de social media, focalizat pe texte scurte (50-500 car.).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7863840" cy="20116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786384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5074920"/>
            <a:ext cx="822960" cy="8229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166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02920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Comparație 3 modele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66928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03642"/>
                </a:solidFill>
                <a:latin typeface="Calibri"/>
              </a:rPr>
              <a:t>NB, Reg. Logistică și RoBERTa în condiții identice.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040880"/>
            <a:ext cx="7863840" cy="20116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7040880"/>
            <a:ext cx="786384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7452360"/>
            <a:ext cx="822960" cy="8229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75438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740664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Justificare Leave-One-Out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804672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03642"/>
                </a:solidFill>
                <a:latin typeface="Calibri"/>
              </a:rPr>
              <a:t>Explicare la nivel de cuvânt — absentă în tool-urile comerciale.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286000"/>
            <a:ext cx="7863840" cy="20116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0" y="2286000"/>
            <a:ext cx="786384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2697480"/>
            <a:ext cx="822960" cy="8229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788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265176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Scor agregat de risc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329184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03642"/>
                </a:solidFill>
                <a:latin typeface="Calibri"/>
              </a:rPr>
              <a:t>0-100, multi-semnal: RoBERTa 60% + fraze AI 25% + vocabular 15%.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4663440"/>
            <a:ext cx="7863840" cy="20116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20" y="4663440"/>
            <a:ext cx="786384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5074920"/>
            <a:ext cx="822960" cy="8229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5166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502920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Aplicație web integrată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566928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03642"/>
                </a:solidFill>
                <a:latin typeface="Calibri"/>
              </a:rPr>
              <a:t>Analiză, comparație, NER, per-propoziție, batch CSV — open-source.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7040880"/>
            <a:ext cx="7863840" cy="20116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0" y="7040880"/>
            <a:ext cx="786384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92640" y="7452360"/>
            <a:ext cx="822960" cy="8229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75438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740664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Validare pe domeniu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804672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03642"/>
                </a:solidFill>
                <a:latin typeface="Calibri"/>
              </a:rPr>
              <a:t>&gt;99.5% pe social media real, peste toate tool-urile comerciale.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AAD"/>
                </a:solidFill>
                <a:latin typeface="Calibri"/>
              </a:rPr>
              <a:t>Demo aplicație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3200400" cy="50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6060"/>
                </a:solidFill>
                <a:latin typeface="Calibri"/>
              </a:rPr>
              <a:t>Verdict + scor de risc · evidențiere cuvinte (Leave-One-Out) · comparație 3 modele · NER · batch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93440" y="9601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06060"/>
                </a:solidFill>
                <a:latin typeface="Calibri"/>
              </a:rP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3377650"/>
            <a:ext cx="10661904" cy="49490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main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42242"/>
            <a:ext cx="10332720" cy="461983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808208" y="3995928"/>
            <a:ext cx="7095744" cy="3712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compare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4160520"/>
            <a:ext cx="676656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AAD"/>
                </a:solidFill>
                <a:latin typeface="Calibri"/>
              </a:rPr>
              <a:t>Dezvoltări viitoare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3200400" cy="508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93440" y="9601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06060"/>
                </a:solidFill>
                <a:latin typeface="Calibri"/>
              </a:rP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5303520" cy="2926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530352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Extindere multilingvă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5661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03642"/>
                </a:solidFill>
                <a:latin typeface="Calibri"/>
              </a:rPr>
              <a:t>XLM-RoBERTa / seturi dedicate, inclusiv limba română.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468880"/>
            <a:ext cx="5303520" cy="2926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2468880"/>
            <a:ext cx="530352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89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Reantrenare periodică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5661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03642"/>
                </a:solidFill>
                <a:latin typeface="Calibri"/>
              </a:rPr>
              <a:t>Pe modele noi (GPT-4o, Claude, Gemini) — concept drift.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52960" y="2468880"/>
            <a:ext cx="5303520" cy="2926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252960" y="2468880"/>
            <a:ext cx="530352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73000" y="27889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Robustețe la evitare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0" y="35661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03642"/>
                </a:solidFill>
                <a:latin typeface="Calibri"/>
              </a:rPr>
              <a:t>Testare împotriva parafrazării și „humanizării”.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852160"/>
            <a:ext cx="5303520" cy="2926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852160"/>
            <a:ext cx="530352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6172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Semnale comportamentale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6949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03642"/>
                </a:solidFill>
                <a:latin typeface="Calibri"/>
              </a:rPr>
              <a:t>Metadate de rețea: frecvență postare, profil cont.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5852160"/>
            <a:ext cx="5303520" cy="2926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5852160"/>
            <a:ext cx="530352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6172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Infrastructură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949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03642"/>
                </a:solidFill>
                <a:latin typeface="Calibri"/>
              </a:rPr>
              <a:t>Extensie browser, API public REST, Docker.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252960" y="5852160"/>
            <a:ext cx="5303520" cy="2926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252960" y="5852160"/>
            <a:ext cx="5303520" cy="109728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73000" y="6172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AAD"/>
                </a:solidFill>
                <a:latin typeface="Calibri"/>
              </a:rPr>
              <a:t>Calibrare scor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73000" y="6949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03642"/>
                </a:solidFill>
                <a:latin typeface="Calibri"/>
              </a:rPr>
              <a:t>Optimizare automată a ponderilor scorului de risc.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16825" y="6705600"/>
            <a:ext cx="3054350" cy="761278"/>
            <a:chOff x="0" y="0"/>
            <a:chExt cx="804438" cy="2005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4438" cy="200501"/>
            </a:xfrm>
            <a:custGeom>
              <a:avLst/>
              <a:gdLst/>
              <a:ahLst/>
              <a:cxnLst/>
              <a:rect r="r" b="b" t="t" l="l"/>
              <a:pathLst>
                <a:path h="200501" w="804438">
                  <a:moveTo>
                    <a:pt x="100251" y="0"/>
                  </a:moveTo>
                  <a:lnTo>
                    <a:pt x="704187" y="0"/>
                  </a:lnTo>
                  <a:cubicBezTo>
                    <a:pt x="730775" y="0"/>
                    <a:pt x="756275" y="10562"/>
                    <a:pt x="775075" y="29363"/>
                  </a:cubicBezTo>
                  <a:cubicBezTo>
                    <a:pt x="793876" y="48163"/>
                    <a:pt x="804438" y="73662"/>
                    <a:pt x="804438" y="100251"/>
                  </a:cubicBezTo>
                  <a:lnTo>
                    <a:pt x="804438" y="100251"/>
                  </a:lnTo>
                  <a:cubicBezTo>
                    <a:pt x="804438" y="155617"/>
                    <a:pt x="759554" y="200501"/>
                    <a:pt x="704187" y="200501"/>
                  </a:cubicBezTo>
                  <a:lnTo>
                    <a:pt x="100251" y="200501"/>
                  </a:lnTo>
                  <a:cubicBezTo>
                    <a:pt x="44884" y="200501"/>
                    <a:pt x="0" y="155617"/>
                    <a:pt x="0" y="100251"/>
                  </a:cubicBezTo>
                  <a:lnTo>
                    <a:pt x="0" y="100251"/>
                  </a:lnTo>
                  <a:cubicBezTo>
                    <a:pt x="0" y="44884"/>
                    <a:pt x="44884" y="0"/>
                    <a:pt x="10025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04438" cy="24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14400" y="3314700"/>
            <a:ext cx="1645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4AAD"/>
                </a:solidFill>
                <a:latin typeface="Calibri"/>
              </a:rPr>
              <a:t>Vă mulțumesc pentru atenție!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69180"/>
            <a:ext cx="1645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03642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6646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  <a:latin typeface="Calibri"/>
              </a:rPr>
              <a:t>Bianca-Ștefania GHEORGHE · Automatică și Calculatoare · POLITEHNICA București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