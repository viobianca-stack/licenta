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9.svg" ContentType="image/svg+xml"/>
  <Override PartName="/ppt/media/image3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13.jpeg"/><Relationship Id="rId4" Type="http://schemas.openxmlformats.org/officeDocument/2006/relationships/image" Target="../media/image14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svg"/><Relationship Id="rId5" Type="http://schemas.openxmlformats.org/officeDocument/2006/relationships/image" Target="../media/image30.png"/><Relationship Id="rId6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4" id="4"/>
          <p:cNvGrpSpPr/>
          <p:nvPr/>
        </p:nvGrpSpPr>
        <p:grpSpPr>
          <a:xfrm rot="0">
            <a:off x="-1130300" y="4057750"/>
            <a:ext cx="3086100" cy="2171499"/>
            <a:chOff x="0" y="0"/>
            <a:chExt cx="812800" cy="5719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6467343" y="4057750"/>
            <a:ext cx="3086100" cy="2171499"/>
            <a:chOff x="0" y="0"/>
            <a:chExt cx="812800" cy="57191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72000" y="36804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 i="0">
                <a:solidFill>
                  <a:srgbClr val="303642"/>
                </a:solidFill>
                <a:latin typeface="Calibri"/>
              </a:rPr>
              <a:t>Lucrare de licenta · 2024-2025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9100"/>
            <a:ext cx="109728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004AAD"/>
                </a:solidFill>
                <a:latin typeface="Calibri"/>
              </a:rPr>
              <a:t>Detectarea mesajelor generate de AI
pe rețelele sociale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9664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999"/>
              </a:lnSpc>
            </a:pPr>
            <a:r>
              <a:rPr sz="1800" b="0">
                <a:solidFill>
                  <a:srgbClr val="303642"/>
                </a:solidFill>
                <a:latin typeface="Calibri"/>
              </a:rPr>
              <a:t>Absolvent: Bianca-Stefania GHEORGHE</a:t>
            </a:r>
          </a:p>
          <a:p>
            <a:pPr algn="ctr">
              <a:lnSpc>
                <a:spcPct val="114999"/>
              </a:lnSpc>
            </a:pPr>
            <a:r>
              <a:rPr sz="1800" b="0">
                <a:solidFill>
                  <a:srgbClr val="303642"/>
                </a:solidFill>
                <a:latin typeface="Calibri"/>
              </a:rPr>
              <a:t>Coordonator: Conf.dr.ing. Daniel-Marian MEREZEANU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706374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606060"/>
                </a:solidFill>
                <a:latin typeface="Calibri"/>
              </a:rPr>
              <a:t>UNIVERSITATEA POLITEHNICA BUCURESTI · FACULTATEA AUTOMATICA SI CALCULATOARE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-257175" y="4502250"/>
            <a:ext cx="18802350" cy="2006600"/>
            <a:chOff x="0" y="0"/>
            <a:chExt cx="4952059" cy="52848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52059" cy="528487"/>
            </a:xfrm>
            <a:custGeom>
              <a:avLst/>
              <a:gdLst/>
              <a:ahLst/>
              <a:cxnLst/>
              <a:rect r="r" b="b" t="t" l="l"/>
              <a:pathLst>
                <a:path h="528487" w="4952059">
                  <a:moveTo>
                    <a:pt x="20999" y="0"/>
                  </a:moveTo>
                  <a:lnTo>
                    <a:pt x="4931060" y="0"/>
                  </a:lnTo>
                  <a:cubicBezTo>
                    <a:pt x="4936629" y="0"/>
                    <a:pt x="4941970" y="2212"/>
                    <a:pt x="4945909" y="6151"/>
                  </a:cubicBezTo>
                  <a:cubicBezTo>
                    <a:pt x="4949847" y="10089"/>
                    <a:pt x="4952059" y="15430"/>
                    <a:pt x="4952059" y="20999"/>
                  </a:cubicBezTo>
                  <a:lnTo>
                    <a:pt x="4952059" y="507488"/>
                  </a:lnTo>
                  <a:cubicBezTo>
                    <a:pt x="4952059" y="519086"/>
                    <a:pt x="4942658" y="528487"/>
                    <a:pt x="4931060" y="528487"/>
                  </a:cubicBezTo>
                  <a:lnTo>
                    <a:pt x="20999" y="528487"/>
                  </a:lnTo>
                  <a:cubicBezTo>
                    <a:pt x="15430" y="528487"/>
                    <a:pt x="10089" y="526275"/>
                    <a:pt x="6151" y="522337"/>
                  </a:cubicBezTo>
                  <a:cubicBezTo>
                    <a:pt x="2212" y="518399"/>
                    <a:pt x="0" y="513057"/>
                    <a:pt x="0" y="507488"/>
                  </a:cubicBezTo>
                  <a:lnTo>
                    <a:pt x="0" y="20999"/>
                  </a:lnTo>
                  <a:cubicBezTo>
                    <a:pt x="0" y="15430"/>
                    <a:pt x="2212" y="10089"/>
                    <a:pt x="6151" y="6151"/>
                  </a:cubicBezTo>
                  <a:cubicBezTo>
                    <a:pt x="10089" y="2212"/>
                    <a:pt x="15430" y="0"/>
                    <a:pt x="20999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952059" cy="5761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14400" y="731520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004AAD"/>
                </a:solidFill>
                <a:latin typeface="Calibri"/>
              </a:rPr>
              <a:t>CUPRINS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91640"/>
            <a:ext cx="54864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2286000"/>
            <a:ext cx="109728" cy="6400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31720"/>
            <a:ext cx="6858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01.  Context si stadiul actual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383280"/>
            <a:ext cx="109728" cy="6400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3429000"/>
            <a:ext cx="6858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02.  Scopul lucrarii / Obiective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480560"/>
            <a:ext cx="109728" cy="6400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4526280"/>
            <a:ext cx="6858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03.  Tehnologii utilizate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5577840"/>
            <a:ext cx="109728" cy="6400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5623560"/>
            <a:ext cx="6858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04.  Analiza cerintelor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6675120"/>
            <a:ext cx="109728" cy="6400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6720840"/>
            <a:ext cx="6858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05.  Decizii de arhitectura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7772400"/>
            <a:ext cx="109728" cy="6400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7818120"/>
            <a:ext cx="6858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06.  Rezultate obtinute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2286000"/>
            <a:ext cx="109728" cy="6400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331720"/>
            <a:ext cx="6858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07.  Contributii originale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3383280"/>
            <a:ext cx="109728" cy="6400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3429000"/>
            <a:ext cx="6858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08.  Dezvoltari viitoare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4480560"/>
            <a:ext cx="109728" cy="6400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4526280"/>
            <a:ext cx="6858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09.  Bibliografie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0" y="0"/>
            <a:ext cx="6792707" cy="10287000"/>
            <a:chOff x="0" y="0"/>
            <a:chExt cx="1789026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8902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789026">
                  <a:moveTo>
                    <a:pt x="0" y="0"/>
                  </a:moveTo>
                  <a:lnTo>
                    <a:pt x="1789026" y="0"/>
                  </a:lnTo>
                  <a:lnTo>
                    <a:pt x="178902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789026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446818" y="8630505"/>
            <a:ext cx="897167" cy="2183545"/>
            <a:chOff x="0" y="0"/>
            <a:chExt cx="236291" cy="575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291" cy="575090"/>
            </a:xfrm>
            <a:custGeom>
              <a:avLst/>
              <a:gdLst/>
              <a:ahLst/>
              <a:cxnLst/>
              <a:rect r="r" b="b" t="t" l="l"/>
              <a:pathLst>
                <a:path h="575090" w="236291">
                  <a:moveTo>
                    <a:pt x="118145" y="0"/>
                  </a:moveTo>
                  <a:lnTo>
                    <a:pt x="118145" y="0"/>
                  </a:lnTo>
                  <a:cubicBezTo>
                    <a:pt x="183395" y="0"/>
                    <a:pt x="236291" y="52895"/>
                    <a:pt x="236291" y="118145"/>
                  </a:cubicBezTo>
                  <a:lnTo>
                    <a:pt x="236291" y="456945"/>
                  </a:lnTo>
                  <a:cubicBezTo>
                    <a:pt x="236291" y="488279"/>
                    <a:pt x="223843" y="518330"/>
                    <a:pt x="201687" y="540486"/>
                  </a:cubicBezTo>
                  <a:cubicBezTo>
                    <a:pt x="179530" y="562643"/>
                    <a:pt x="149480" y="575090"/>
                    <a:pt x="118145" y="575090"/>
                  </a:cubicBezTo>
                  <a:lnTo>
                    <a:pt x="118145" y="575090"/>
                  </a:lnTo>
                  <a:cubicBezTo>
                    <a:pt x="86811" y="575090"/>
                    <a:pt x="56761" y="562643"/>
                    <a:pt x="34604" y="540486"/>
                  </a:cubicBezTo>
                  <a:cubicBezTo>
                    <a:pt x="12447" y="518330"/>
                    <a:pt x="0" y="488279"/>
                    <a:pt x="0" y="456945"/>
                  </a:cubicBezTo>
                  <a:lnTo>
                    <a:pt x="0" y="118145"/>
                  </a:lnTo>
                  <a:cubicBezTo>
                    <a:pt x="0" y="86811"/>
                    <a:pt x="12447" y="56761"/>
                    <a:pt x="34604" y="34604"/>
                  </a:cubicBezTo>
                  <a:cubicBezTo>
                    <a:pt x="56761" y="12447"/>
                    <a:pt x="86811" y="0"/>
                    <a:pt x="11814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36291" cy="622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>
            <a:grpSpLocks noChangeAspect="true"/>
          </p:cNvGrpSpPr>
          <p:nvPr/>
        </p:nvGrpSpPr>
        <p:grpSpPr>
          <a:xfrm rot="0">
            <a:off x="7509504" y="2224789"/>
            <a:ext cx="4857773" cy="6528106"/>
            <a:chOff x="0" y="0"/>
            <a:chExt cx="3663950" cy="49237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1750" y="31750"/>
              <a:ext cx="3600450" cy="4859020"/>
            </a:xfrm>
            <a:custGeom>
              <a:avLst/>
              <a:gdLst/>
              <a:ahLst/>
              <a:cxnLst/>
              <a:rect r="r" b="b" t="t" l="l"/>
              <a:pathLst>
                <a:path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3"/>
              <a:stretch>
                <a:fillRect l="-39970" t="0" r="-3997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662687" cy="4923790"/>
            </a:xfrm>
            <a:custGeom>
              <a:avLst/>
              <a:gdLst/>
              <a:ahLst/>
              <a:cxnLst/>
              <a:rect r="r" b="b" t="t" l="l"/>
              <a:pathLst>
                <a:path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grpSp>
        <p:nvGrpSpPr>
          <p:cNvPr name="Group 16" id="16"/>
          <p:cNvGrpSpPr>
            <a:grpSpLocks noChangeAspect="true"/>
          </p:cNvGrpSpPr>
          <p:nvPr/>
        </p:nvGrpSpPr>
        <p:grpSpPr>
          <a:xfrm rot="0">
            <a:off x="12862577" y="2215264"/>
            <a:ext cx="4857773" cy="6528106"/>
            <a:chOff x="0" y="0"/>
            <a:chExt cx="3663950" cy="49237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1750" y="31750"/>
              <a:ext cx="3600450" cy="4859020"/>
            </a:xfrm>
            <a:custGeom>
              <a:avLst/>
              <a:gdLst/>
              <a:ahLst/>
              <a:cxnLst/>
              <a:rect r="r" b="b" t="t" l="l"/>
              <a:pathLst>
                <a:path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4"/>
              <a:stretch>
                <a:fillRect l="-51090" t="0" r="-51090" b="0"/>
              </a:stretch>
            </a:blip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662687" cy="4923790"/>
            </a:xfrm>
            <a:custGeom>
              <a:avLst/>
              <a:gdLst/>
              <a:ahLst/>
              <a:cxnLst/>
              <a:rect r="r" b="b" t="t" l="l"/>
              <a:pathLst>
                <a:path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sp>
        <p:nvSpPr>
          <p:cNvPr id="19" name="Rectangle 18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Context si stadiul actual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3/12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Problema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2860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Modelele LLM (ChatGPT, GPT-4, Gemini) genereaza texte aproape identice cu cele scrise de oameni [2].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Retelele sociale: publicare instantanee, fara filtrare editoriala -&gt; dezinformarea se propage rapid.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Texte scurte si informale (abrevieri, argou, greseli intentionate) fac clasificarea dificila.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Conform KPMG 2025 [6]: 65% din organizatii au intampinat riscuri din cauza AI.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NewsGuard 2023 [12]: &gt;1.000 surse de stiri false generate de AI.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1737360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Stadiul actual al cercetarii (din 2019)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2286000"/>
            <a:ext cx="73152" cy="10972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28600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Metode statistice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788920"/>
            <a:ext cx="73152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Incertitudine, entropie — GLTR [5]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3749040"/>
            <a:ext cx="73152" cy="10972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3749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Watermarking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4251960"/>
            <a:ext cx="73152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Semnal ascuns la generare [8]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5212080"/>
            <a:ext cx="73152" cy="10972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521208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Clasificatori supervizati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5715000"/>
            <a:ext cx="73152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RoBERTa fine-tuned [10]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6675120"/>
            <a:ext cx="73152" cy="10972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667512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Metode zero-shot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7178040"/>
            <a:ext cx="73152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DetectGPT [11]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669280"/>
            <a:ext cx="16459200" cy="12801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5852160"/>
            <a:ext cx="15910559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1">
                <a:solidFill>
                  <a:srgbClr val="303642"/>
                </a:solidFill>
                <a:latin typeface="Calibri"/>
              </a:rPr>
              <a:t>Limitare comuna: metodele existente sunt evaluate pe texte lungi si formale; parafrazarea reduce acuratetea de la &gt;90% la &lt;50% [9].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1908043" y="0"/>
            <a:ext cx="6379957" cy="10287000"/>
            <a:chOff x="0" y="0"/>
            <a:chExt cx="1680318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80318" cy="2709333"/>
            </a:xfrm>
            <a:custGeom>
              <a:avLst/>
              <a:gdLst/>
              <a:ahLst/>
              <a:cxnLst/>
              <a:rect r="r" b="b" t="t" l="l"/>
              <a:pathLst>
                <a:path h="2709333" w="1680318">
                  <a:moveTo>
                    <a:pt x="0" y="0"/>
                  </a:moveTo>
                  <a:lnTo>
                    <a:pt x="1680318" y="0"/>
                  </a:lnTo>
                  <a:lnTo>
                    <a:pt x="1680318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680318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640583" y="1606753"/>
            <a:ext cx="1868266" cy="1868266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640583" y="4210291"/>
            <a:ext cx="1868266" cy="1868266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640583" y="6811982"/>
            <a:ext cx="1868266" cy="1868266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-970541" y="2006345"/>
            <a:ext cx="1601933" cy="6466659"/>
            <a:chOff x="0" y="0"/>
            <a:chExt cx="421908" cy="170315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21908" cy="1703153"/>
            </a:xfrm>
            <a:custGeom>
              <a:avLst/>
              <a:gdLst/>
              <a:ahLst/>
              <a:cxnLst/>
              <a:rect r="r" b="b" t="t" l="l"/>
              <a:pathLst>
                <a:path h="1703153" w="421908">
                  <a:moveTo>
                    <a:pt x="210954" y="0"/>
                  </a:moveTo>
                  <a:lnTo>
                    <a:pt x="210954" y="0"/>
                  </a:lnTo>
                  <a:cubicBezTo>
                    <a:pt x="266903" y="0"/>
                    <a:pt x="320560" y="22225"/>
                    <a:pt x="360121" y="61787"/>
                  </a:cubicBezTo>
                  <a:cubicBezTo>
                    <a:pt x="399683" y="101349"/>
                    <a:pt x="421908" y="155006"/>
                    <a:pt x="421908" y="210954"/>
                  </a:cubicBezTo>
                  <a:lnTo>
                    <a:pt x="421908" y="1492199"/>
                  </a:lnTo>
                  <a:cubicBezTo>
                    <a:pt x="421908" y="1548147"/>
                    <a:pt x="399683" y="1601804"/>
                    <a:pt x="360121" y="1641366"/>
                  </a:cubicBezTo>
                  <a:cubicBezTo>
                    <a:pt x="320560" y="1680928"/>
                    <a:pt x="266903" y="1703153"/>
                    <a:pt x="210954" y="1703153"/>
                  </a:cubicBezTo>
                  <a:lnTo>
                    <a:pt x="210954" y="1703153"/>
                  </a:lnTo>
                  <a:cubicBezTo>
                    <a:pt x="155006" y="1703153"/>
                    <a:pt x="101349" y="1680928"/>
                    <a:pt x="61787" y="1641366"/>
                  </a:cubicBezTo>
                  <a:cubicBezTo>
                    <a:pt x="22225" y="1601804"/>
                    <a:pt x="0" y="1548147"/>
                    <a:pt x="0" y="1492199"/>
                  </a:cubicBezTo>
                  <a:lnTo>
                    <a:pt x="0" y="210954"/>
                  </a:lnTo>
                  <a:cubicBezTo>
                    <a:pt x="0" y="155006"/>
                    <a:pt x="22225" y="101349"/>
                    <a:pt x="61787" y="61787"/>
                  </a:cubicBezTo>
                  <a:cubicBezTo>
                    <a:pt x="101349" y="22225"/>
                    <a:pt x="155006" y="0"/>
                    <a:pt x="210954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421908" cy="17507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21" name="Rectangle 20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Scopul lucrarii / Obiective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4/12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1920240"/>
            <a:ext cx="914400" cy="914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1920240"/>
            <a:ext cx="914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2011680"/>
            <a:ext cx="7406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Analiza critica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2606040"/>
            <a:ext cx="740664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Studierea metodelor existente de detectare si a limitarilor lor pe retelele sociale.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1920240"/>
            <a:ext cx="914400" cy="914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920240"/>
            <a:ext cx="914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011680"/>
            <a:ext cx="7406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Solutie specializata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606040"/>
            <a:ext cx="740664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Detector bazat pe machine learning, antrenat specific pe texte scurte de social media (50-500 caractere).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5120640"/>
            <a:ext cx="914400" cy="914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120640"/>
            <a:ext cx="914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5212080"/>
            <a:ext cx="7406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Comparatie de modele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5806440"/>
            <a:ext cx="740664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Evaluarea sistematica a 3 clasificatori complementari pe acelasi set de date.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5120640"/>
            <a:ext cx="914400" cy="914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0" y="5120640"/>
            <a:ext cx="914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5212080"/>
            <a:ext cx="7406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Aplicatie accesibila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5806440"/>
            <a:ext cx="740664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Interfata web cu justificarea transparenta a deciziilor, nu doar un scor final.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028700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67950" y="806450"/>
            <a:ext cx="6294884" cy="8674100"/>
            <a:chOff x="0" y="0"/>
            <a:chExt cx="1657912" cy="228453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57912" cy="2284537"/>
            </a:xfrm>
            <a:custGeom>
              <a:avLst/>
              <a:gdLst/>
              <a:ahLst/>
              <a:cxnLst/>
              <a:rect r="r" b="b" t="t" l="l"/>
              <a:pathLst>
                <a:path h="2284537" w="1657912">
                  <a:moveTo>
                    <a:pt x="62724" y="0"/>
                  </a:moveTo>
                  <a:lnTo>
                    <a:pt x="1595188" y="0"/>
                  </a:lnTo>
                  <a:cubicBezTo>
                    <a:pt x="1611824" y="0"/>
                    <a:pt x="1627778" y="6608"/>
                    <a:pt x="1639541" y="18371"/>
                  </a:cubicBezTo>
                  <a:cubicBezTo>
                    <a:pt x="1651304" y="30134"/>
                    <a:pt x="1657912" y="46088"/>
                    <a:pt x="1657912" y="62724"/>
                  </a:cubicBezTo>
                  <a:lnTo>
                    <a:pt x="1657912" y="2221813"/>
                  </a:lnTo>
                  <a:cubicBezTo>
                    <a:pt x="1657912" y="2256454"/>
                    <a:pt x="1629830" y="2284537"/>
                    <a:pt x="1595188" y="2284537"/>
                  </a:cubicBezTo>
                  <a:lnTo>
                    <a:pt x="62724" y="2284537"/>
                  </a:lnTo>
                  <a:cubicBezTo>
                    <a:pt x="46088" y="2284537"/>
                    <a:pt x="30134" y="2277928"/>
                    <a:pt x="18371" y="2266165"/>
                  </a:cubicBezTo>
                  <a:cubicBezTo>
                    <a:pt x="6608" y="2254403"/>
                    <a:pt x="0" y="2238448"/>
                    <a:pt x="0" y="2221813"/>
                  </a:cubicBezTo>
                  <a:lnTo>
                    <a:pt x="0" y="62724"/>
                  </a:lnTo>
                  <a:cubicBezTo>
                    <a:pt x="0" y="46088"/>
                    <a:pt x="6608" y="30134"/>
                    <a:pt x="18371" y="18371"/>
                  </a:cubicBezTo>
                  <a:cubicBezTo>
                    <a:pt x="30134" y="6608"/>
                    <a:pt x="46088" y="0"/>
                    <a:pt x="62724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657912" cy="23321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862583" y="1606753"/>
            <a:ext cx="1868266" cy="1868266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862583" y="4210291"/>
            <a:ext cx="1868266" cy="1868266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862583" y="6811982"/>
            <a:ext cx="1868266" cy="1868266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Tehnologii utilizate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5/12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1920240"/>
            <a:ext cx="4114800" cy="73152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2011680"/>
            <a:ext cx="4114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Date &amp; Prelucrare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697480"/>
            <a:ext cx="4114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Python 3.10 · pandas (filtrare, echilibrare) · datasets HuggingFace (streaming)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1920240"/>
            <a:ext cx="4114800" cy="73152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0" y="2011680"/>
            <a:ext cx="4114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ML Clasic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2697480"/>
            <a:ext cx="4114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scikit-learn — Naive Bayes, Reg. Logistica · TF-IDF (10.000 vocab, n-grame 1-2) · NLTK stop-words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0" y="1920240"/>
            <a:ext cx="4114800" cy="73152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0" y="2011680"/>
            <a:ext cx="4114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Deep Learning / NLP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2697480"/>
            <a:ext cx="4114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PyTorch 2.x (GPU) · Transformers — RoBERTa-base [10] [15] · SpaCy NER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630400" y="1920240"/>
            <a:ext cx="4114800" cy="73152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630400" y="2011680"/>
            <a:ext cx="4114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Aplicatie web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0" y="2697480"/>
            <a:ext cx="4114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Flask 3.x — API REST · HTML/CSS/JS · Chart.js vizualizari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303520"/>
            <a:ext cx="16459200" cy="164592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5440680"/>
            <a:ext cx="2743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Mediu de antrenare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6080760"/>
            <a:ext cx="1609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Google Colaboratory · GPU NVIDIA Tesla T4 (15.6 GB VRAM) · precizie mixta FP16 · antrenare RoBERTa ~85 min (3 epoci) · modele clasice &lt;2 min · inferenta locala CPU (0.5-2 s/text)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0" y="0"/>
            <a:ext cx="6792707" cy="10287000"/>
            <a:chOff x="0" y="0"/>
            <a:chExt cx="1789026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8902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789026">
                  <a:moveTo>
                    <a:pt x="0" y="0"/>
                  </a:moveTo>
                  <a:lnTo>
                    <a:pt x="1789026" y="0"/>
                  </a:lnTo>
                  <a:lnTo>
                    <a:pt x="178902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789026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446818" y="8630505"/>
            <a:ext cx="897167" cy="2183545"/>
            <a:chOff x="0" y="0"/>
            <a:chExt cx="236291" cy="575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291" cy="575090"/>
            </a:xfrm>
            <a:custGeom>
              <a:avLst/>
              <a:gdLst/>
              <a:ahLst/>
              <a:cxnLst/>
              <a:rect r="r" b="b" t="t" l="l"/>
              <a:pathLst>
                <a:path h="575090" w="236291">
                  <a:moveTo>
                    <a:pt x="118145" y="0"/>
                  </a:moveTo>
                  <a:lnTo>
                    <a:pt x="118145" y="0"/>
                  </a:lnTo>
                  <a:cubicBezTo>
                    <a:pt x="183395" y="0"/>
                    <a:pt x="236291" y="52895"/>
                    <a:pt x="236291" y="118145"/>
                  </a:cubicBezTo>
                  <a:lnTo>
                    <a:pt x="236291" y="456945"/>
                  </a:lnTo>
                  <a:cubicBezTo>
                    <a:pt x="236291" y="488279"/>
                    <a:pt x="223843" y="518330"/>
                    <a:pt x="201687" y="540486"/>
                  </a:cubicBezTo>
                  <a:cubicBezTo>
                    <a:pt x="179530" y="562643"/>
                    <a:pt x="149480" y="575090"/>
                    <a:pt x="118145" y="575090"/>
                  </a:cubicBezTo>
                  <a:lnTo>
                    <a:pt x="118145" y="575090"/>
                  </a:lnTo>
                  <a:cubicBezTo>
                    <a:pt x="86811" y="575090"/>
                    <a:pt x="56761" y="562643"/>
                    <a:pt x="34604" y="540486"/>
                  </a:cubicBezTo>
                  <a:cubicBezTo>
                    <a:pt x="12447" y="518330"/>
                    <a:pt x="0" y="488279"/>
                    <a:pt x="0" y="456945"/>
                  </a:cubicBezTo>
                  <a:lnTo>
                    <a:pt x="0" y="118145"/>
                  </a:lnTo>
                  <a:cubicBezTo>
                    <a:pt x="0" y="86811"/>
                    <a:pt x="12447" y="56761"/>
                    <a:pt x="34604" y="34604"/>
                  </a:cubicBezTo>
                  <a:cubicBezTo>
                    <a:pt x="56761" y="12447"/>
                    <a:pt x="86811" y="0"/>
                    <a:pt x="11814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36291" cy="622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>
            <a:grpSpLocks noChangeAspect="true"/>
          </p:cNvGrpSpPr>
          <p:nvPr/>
        </p:nvGrpSpPr>
        <p:grpSpPr>
          <a:xfrm rot="0">
            <a:off x="7509504" y="2224789"/>
            <a:ext cx="4857773" cy="6528106"/>
            <a:chOff x="0" y="0"/>
            <a:chExt cx="3663950" cy="49237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1750" y="31750"/>
              <a:ext cx="3600450" cy="4859020"/>
            </a:xfrm>
            <a:custGeom>
              <a:avLst/>
              <a:gdLst/>
              <a:ahLst/>
              <a:cxnLst/>
              <a:rect r="r" b="b" t="t" l="l"/>
              <a:pathLst>
                <a:path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3"/>
              <a:stretch>
                <a:fillRect l="-39970" t="0" r="-3997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662687" cy="4923790"/>
            </a:xfrm>
            <a:custGeom>
              <a:avLst/>
              <a:gdLst/>
              <a:ahLst/>
              <a:cxnLst/>
              <a:rect r="r" b="b" t="t" l="l"/>
              <a:pathLst>
                <a:path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grpSp>
        <p:nvGrpSpPr>
          <p:cNvPr name="Group 16" id="16"/>
          <p:cNvGrpSpPr>
            <a:grpSpLocks noChangeAspect="true"/>
          </p:cNvGrpSpPr>
          <p:nvPr/>
        </p:nvGrpSpPr>
        <p:grpSpPr>
          <a:xfrm rot="0">
            <a:off x="12862577" y="2215264"/>
            <a:ext cx="4857773" cy="6528106"/>
            <a:chOff x="0" y="0"/>
            <a:chExt cx="3663950" cy="49237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1750" y="31750"/>
              <a:ext cx="3600450" cy="4859020"/>
            </a:xfrm>
            <a:custGeom>
              <a:avLst/>
              <a:gdLst/>
              <a:ahLst/>
              <a:cxnLst/>
              <a:rect r="r" b="b" t="t" l="l"/>
              <a:pathLst>
                <a:path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4"/>
              <a:stretch>
                <a:fillRect l="-51090" t="0" r="-51090" b="0"/>
              </a:stretch>
            </a:blip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662687" cy="4923790"/>
            </a:xfrm>
            <a:custGeom>
              <a:avLst/>
              <a:gdLst/>
              <a:ahLst/>
              <a:cxnLst/>
              <a:rect r="r" b="b" t="t" l="l"/>
              <a:pathLst>
                <a:path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sp>
        <p:nvSpPr>
          <p:cNvPr id="19" name="Rectangle 18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Analiza cerintelor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6/12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1828800"/>
            <a:ext cx="109728" cy="27432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1828800"/>
            <a:ext cx="7772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Instrumente existente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514600"/>
            <a:ext cx="7772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5 aplicatii comerciale studiate (GPTZero [14], ZeroGPT, OpenAI Classifier, Originality.ai, Sapling) - toate slabe pe texte scurte.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1828800"/>
            <a:ext cx="109728" cy="27432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7772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Metode din literatura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514600"/>
            <a:ext cx="7772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4 categorii identificate: statistice [5], watermarking [8], supervizate, zero-shot [11] si limitarile lor [13].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303520"/>
            <a:ext cx="109728" cy="27432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303520"/>
            <a:ext cx="7772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Specificul social media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989320"/>
            <a:ext cx="7772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Lungime mica, limbaj informal, abrevieri si greseli intentionate ingreuneaza clasificarea.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5303520"/>
            <a:ext cx="109728" cy="27432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5303520"/>
            <a:ext cx="7772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Concluzii -&gt; specificatii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5989320"/>
            <a:ext cx="7772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Set de date 50-500 caractere · comparatie multi-model · justificare per cuvant · procesare in lot.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028700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8044798" y="1093787"/>
            <a:ext cx="3935158" cy="3753414"/>
            <a:chOff x="0" y="0"/>
            <a:chExt cx="6324600" cy="6032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7000" y="127000"/>
              <a:ext cx="6070600" cy="5778500"/>
            </a:xfrm>
            <a:custGeom>
              <a:avLst/>
              <a:gdLst/>
              <a:ahLst/>
              <a:cxnLst/>
              <a:rect r="r" b="b" t="t" l="l"/>
              <a:pathLst>
                <a:path h="5778500" w="6070600">
                  <a:moveTo>
                    <a:pt x="0" y="0"/>
                  </a:moveTo>
                  <a:lnTo>
                    <a:pt x="6070600" y="0"/>
                  </a:lnTo>
                  <a:lnTo>
                    <a:pt x="6070600" y="5778500"/>
                  </a:lnTo>
                  <a:lnTo>
                    <a:pt x="0" y="5778500"/>
                  </a:lnTo>
                  <a:close/>
                </a:path>
              </a:pathLst>
            </a:custGeom>
            <a:blipFill>
              <a:blip r:embed="rId3"/>
              <a:stretch>
                <a:fillRect l="-21391" t="0" r="-21391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24600" cy="6032500"/>
            </a:xfrm>
            <a:custGeom>
              <a:avLst/>
              <a:gdLst/>
              <a:ahLst/>
              <a:cxnLst/>
              <a:rect r="r" b="b" t="t" l="l"/>
              <a:pathLst>
                <a:path h="6032500" w="6324600">
                  <a:moveTo>
                    <a:pt x="6324600" y="6032500"/>
                  </a:moveTo>
                  <a:lnTo>
                    <a:pt x="0" y="6032500"/>
                  </a:lnTo>
                  <a:lnTo>
                    <a:pt x="0" y="0"/>
                  </a:lnTo>
                  <a:lnTo>
                    <a:pt x="6324600" y="0"/>
                  </a:lnTo>
                  <a:lnTo>
                    <a:pt x="6324600" y="6032500"/>
                  </a:lnTo>
                  <a:close/>
                  <a:moveTo>
                    <a:pt x="127000" y="5905500"/>
                  </a:moveTo>
                  <a:lnTo>
                    <a:pt x="6197600" y="5905500"/>
                  </a:lnTo>
                  <a:lnTo>
                    <a:pt x="6197600" y="127000"/>
                  </a:lnTo>
                  <a:lnTo>
                    <a:pt x="127000" y="127000"/>
                  </a:lnTo>
                  <a:lnTo>
                    <a:pt x="127000" y="5905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grpSp>
        <p:nvGrpSpPr>
          <p:cNvPr name="Group 15" id="15"/>
          <p:cNvGrpSpPr>
            <a:grpSpLocks noChangeAspect="true"/>
          </p:cNvGrpSpPr>
          <p:nvPr/>
        </p:nvGrpSpPr>
        <p:grpSpPr>
          <a:xfrm rot="0">
            <a:off x="13355892" y="5439799"/>
            <a:ext cx="3935158" cy="3753414"/>
            <a:chOff x="0" y="0"/>
            <a:chExt cx="6324600" cy="60325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7000" y="127000"/>
              <a:ext cx="6070600" cy="5778500"/>
            </a:xfrm>
            <a:custGeom>
              <a:avLst/>
              <a:gdLst/>
              <a:ahLst/>
              <a:cxnLst/>
              <a:rect r="r" b="b" t="t" l="l"/>
              <a:pathLst>
                <a:path h="5778500" w="6070600">
                  <a:moveTo>
                    <a:pt x="0" y="0"/>
                  </a:moveTo>
                  <a:lnTo>
                    <a:pt x="6070600" y="0"/>
                  </a:lnTo>
                  <a:lnTo>
                    <a:pt x="6070600" y="5778500"/>
                  </a:lnTo>
                  <a:lnTo>
                    <a:pt x="0" y="5778500"/>
                  </a:lnTo>
                  <a:close/>
                </a:path>
              </a:pathLst>
            </a:custGeom>
            <a:blipFill>
              <a:blip r:embed="rId4"/>
              <a:stretch>
                <a:fillRect l="-21391" t="0" r="-21391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324600" cy="6032500"/>
            </a:xfrm>
            <a:custGeom>
              <a:avLst/>
              <a:gdLst/>
              <a:ahLst/>
              <a:cxnLst/>
              <a:rect r="r" b="b" t="t" l="l"/>
              <a:pathLst>
                <a:path h="6032500" w="6324600">
                  <a:moveTo>
                    <a:pt x="6324600" y="6032500"/>
                  </a:moveTo>
                  <a:lnTo>
                    <a:pt x="0" y="6032500"/>
                  </a:lnTo>
                  <a:lnTo>
                    <a:pt x="0" y="0"/>
                  </a:lnTo>
                  <a:lnTo>
                    <a:pt x="6324600" y="0"/>
                  </a:lnTo>
                  <a:lnTo>
                    <a:pt x="6324600" y="6032500"/>
                  </a:lnTo>
                  <a:close/>
                  <a:moveTo>
                    <a:pt x="127000" y="5905500"/>
                  </a:moveTo>
                  <a:lnTo>
                    <a:pt x="6197600" y="5905500"/>
                  </a:lnTo>
                  <a:lnTo>
                    <a:pt x="6197600" y="127000"/>
                  </a:lnTo>
                  <a:lnTo>
                    <a:pt x="127000" y="127000"/>
                  </a:lnTo>
                  <a:lnTo>
                    <a:pt x="127000" y="5905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sp>
        <p:nvSpPr>
          <p:cNvPr id="18" name="Rectangle 17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Decizii de arhitectura si model de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7/12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737360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Arhitectura software: client-server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233172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Backend Flask: incarca cele 3 modele la pornire; endpoint-uri /predict si /batch.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Frontend HTML/CSS/JS: vizualizari, comutare model in browser fara re-apel server.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Trei modele complementare: Naive Bayes &amp; Reg. Logistica (TF-IDF) + RoBERTa fine-tuned (125M parametri) [10] bazat pe Transformer [15].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Model de date: 6 surse combinate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530352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3035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HC3 Reddit ELI5 [7]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71500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perechi uman/AI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530352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40" y="53035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TweetEval 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71500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tweets reale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530352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53035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Reddit comentarii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71500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limbaj informal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630936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63093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RAID 2024 [4]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672084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AI multi-model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66160" y="630936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49040" y="63093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AI_Human.csv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40" y="672084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volum/diversitate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630936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3093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AI Detection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672084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texte AI extra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01200" y="1737360"/>
            <a:ext cx="7772400" cy="45720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192024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004AAD"/>
                </a:solidFill>
                <a:latin typeface="Calibri"/>
              </a:rPr>
              <a:t>45.834 exemple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65176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0">
                <a:solidFill>
                  <a:srgbClr val="303642"/>
                </a:solidFill>
                <a:latin typeface="Calibri"/>
              </a:rPr>
              <a:t>echilibrate 50/50 (uman/AI)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0" y="3246120"/>
            <a:ext cx="5943600" cy="25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338328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Filtrate: 50-500 caractere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Impartire stratificata 70 / 15 / 15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Surse: Twitter, Reddit, HC3, RAID, AI_Human, AI Detection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-257175" y="4502250"/>
            <a:ext cx="18802350" cy="2006600"/>
            <a:chOff x="0" y="0"/>
            <a:chExt cx="4952059" cy="52848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52059" cy="528487"/>
            </a:xfrm>
            <a:custGeom>
              <a:avLst/>
              <a:gdLst/>
              <a:ahLst/>
              <a:cxnLst/>
              <a:rect r="r" b="b" t="t" l="l"/>
              <a:pathLst>
                <a:path h="528487" w="4952059">
                  <a:moveTo>
                    <a:pt x="20999" y="0"/>
                  </a:moveTo>
                  <a:lnTo>
                    <a:pt x="4931060" y="0"/>
                  </a:lnTo>
                  <a:cubicBezTo>
                    <a:pt x="4936629" y="0"/>
                    <a:pt x="4941970" y="2212"/>
                    <a:pt x="4945909" y="6151"/>
                  </a:cubicBezTo>
                  <a:cubicBezTo>
                    <a:pt x="4949847" y="10089"/>
                    <a:pt x="4952059" y="15430"/>
                    <a:pt x="4952059" y="20999"/>
                  </a:cubicBezTo>
                  <a:lnTo>
                    <a:pt x="4952059" y="507488"/>
                  </a:lnTo>
                  <a:cubicBezTo>
                    <a:pt x="4952059" y="519086"/>
                    <a:pt x="4942658" y="528487"/>
                    <a:pt x="4931060" y="528487"/>
                  </a:cubicBezTo>
                  <a:lnTo>
                    <a:pt x="20999" y="528487"/>
                  </a:lnTo>
                  <a:cubicBezTo>
                    <a:pt x="15430" y="528487"/>
                    <a:pt x="10089" y="526275"/>
                    <a:pt x="6151" y="522337"/>
                  </a:cubicBezTo>
                  <a:cubicBezTo>
                    <a:pt x="2212" y="518399"/>
                    <a:pt x="0" y="513057"/>
                    <a:pt x="0" y="507488"/>
                  </a:cubicBezTo>
                  <a:lnTo>
                    <a:pt x="0" y="20999"/>
                  </a:lnTo>
                  <a:cubicBezTo>
                    <a:pt x="0" y="15430"/>
                    <a:pt x="2212" y="10089"/>
                    <a:pt x="6151" y="6151"/>
                  </a:cubicBezTo>
                  <a:cubicBezTo>
                    <a:pt x="10089" y="2212"/>
                    <a:pt x="15430" y="0"/>
                    <a:pt x="20999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952059" cy="5761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6" name="Rectangle 5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Rezultate obtinute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8/12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828800"/>
            <a:ext cx="5303520" cy="3474720"/>
          </a:xfrm>
          <a:prstGeom prst="rect">
            <a:avLst/>
          </a:prstGeom>
          <a:solidFill>
            <a:srgbClr val="729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10312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Naive Bayes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47548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94.24%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700" b="0" i="0">
                <a:solidFill>
                  <a:srgbClr val="DDEEFF"/>
                </a:solidFill>
                <a:latin typeface="Calibri"/>
              </a:rPr>
              <a:t>F1-score: 94.17%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828800"/>
            <a:ext cx="5303520" cy="347472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10312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Reg. Logistica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834640"/>
            <a:ext cx="47548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96.71%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11480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700" b="0" i="0">
                <a:solidFill>
                  <a:srgbClr val="DDEEFF"/>
                </a:solidFill>
                <a:latin typeface="Calibri"/>
              </a:rPr>
              <a:t>F1-score: 96.66%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435840" y="1828800"/>
            <a:ext cx="5303520" cy="3474720"/>
          </a:xfrm>
          <a:prstGeom prst="rect">
            <a:avLst/>
          </a:prstGeom>
          <a:solidFill>
            <a:srgbClr val="002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0" y="210312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RoBERTa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10160" y="2834640"/>
            <a:ext cx="47548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99.17%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0160" y="411480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700" b="0" i="0">
                <a:solidFill>
                  <a:srgbClr val="DDEEFF"/>
                </a:solidFill>
                <a:latin typeface="Calibri"/>
              </a:rPr>
              <a:t>F1-score: 99.18%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86400"/>
            <a:ext cx="1645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Testat pe 6.876 exemple (50/50 echilibrat). Pe surse propriu-zise de social media: acuratete &gt;99.5% - confirma teoria detectabilitatii [3].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Demo aplicatie: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858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Verdict + scor agregat de risc (0-100)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Evidentiere cuvinte (Leave-One-Out)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Comparatie 3 modele simultan · Procesare lot 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309360"/>
            <a:ext cx="7772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Matricea de confuzie RoBERTa: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858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3.388 uman corect · 3.431 AI corect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50 fals-pozitive · 7 fals-negative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Aproape toate erorile vin din texte formale, nu social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1624726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06450" y="806450"/>
            <a:ext cx="6990015" cy="8674100"/>
            <a:chOff x="0" y="0"/>
            <a:chExt cx="1840992" cy="228453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840992" cy="2284537"/>
            </a:xfrm>
            <a:custGeom>
              <a:avLst/>
              <a:gdLst/>
              <a:ahLst/>
              <a:cxnLst/>
              <a:rect r="r" b="b" t="t" l="l"/>
              <a:pathLst>
                <a:path h="2284537" w="1840992">
                  <a:moveTo>
                    <a:pt x="56486" y="0"/>
                  </a:moveTo>
                  <a:lnTo>
                    <a:pt x="1784506" y="0"/>
                  </a:lnTo>
                  <a:cubicBezTo>
                    <a:pt x="1799487" y="0"/>
                    <a:pt x="1813854" y="5951"/>
                    <a:pt x="1824447" y="16544"/>
                  </a:cubicBezTo>
                  <a:cubicBezTo>
                    <a:pt x="1835041" y="27138"/>
                    <a:pt x="1840992" y="41505"/>
                    <a:pt x="1840992" y="56486"/>
                  </a:cubicBezTo>
                  <a:lnTo>
                    <a:pt x="1840992" y="2228051"/>
                  </a:lnTo>
                  <a:cubicBezTo>
                    <a:pt x="1840992" y="2243032"/>
                    <a:pt x="1835041" y="2257399"/>
                    <a:pt x="1824447" y="2267992"/>
                  </a:cubicBezTo>
                  <a:cubicBezTo>
                    <a:pt x="1813854" y="2278586"/>
                    <a:pt x="1799487" y="2284537"/>
                    <a:pt x="1784506" y="2284537"/>
                  </a:cubicBezTo>
                  <a:lnTo>
                    <a:pt x="56486" y="2284537"/>
                  </a:lnTo>
                  <a:cubicBezTo>
                    <a:pt x="41505" y="2284537"/>
                    <a:pt x="27138" y="2278586"/>
                    <a:pt x="16544" y="2267992"/>
                  </a:cubicBezTo>
                  <a:cubicBezTo>
                    <a:pt x="5951" y="2257399"/>
                    <a:pt x="0" y="2243032"/>
                    <a:pt x="0" y="2228051"/>
                  </a:cubicBezTo>
                  <a:lnTo>
                    <a:pt x="0" y="56486"/>
                  </a:lnTo>
                  <a:cubicBezTo>
                    <a:pt x="0" y="41505"/>
                    <a:pt x="5951" y="27138"/>
                    <a:pt x="16544" y="16544"/>
                  </a:cubicBezTo>
                  <a:cubicBezTo>
                    <a:pt x="27138" y="5951"/>
                    <a:pt x="41505" y="0"/>
                    <a:pt x="56486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840992" cy="23321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862333" y="1606753"/>
            <a:ext cx="1868266" cy="1868266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62333" y="4210291"/>
            <a:ext cx="1868266" cy="1868266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862333" y="6811982"/>
            <a:ext cx="1868266" cy="1868266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25" name="Rectangle 24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Contributii originale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9/12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182880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182880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182880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Set de date dedicat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242316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6 surse de social media combinate, focalizat pe texte scurte (50-500 car.).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182880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182880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182880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Comparatie 3 modele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242316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Naive Bayes, Reg. Logistica si RoBERTa evaluate in conditii identice.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48056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48056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44805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Justificare Leave-One-Out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507492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Explicare la nivel de cuvant - absenta in instrumentele comerciale.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448056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448056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44805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Scor agregat de risc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507492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Indicator 0-100 multi-semnal (RoBERTa 60% + fraze AI 25% + statistici vocabular 15%).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713232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57800" y="713232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71323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Aplicatie web integrata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772668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Analiza, comparatie, per-propozitie, NER, batch CSV - open-source.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028700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67950" y="806450"/>
            <a:ext cx="6294884" cy="8674100"/>
            <a:chOff x="0" y="0"/>
            <a:chExt cx="1657912" cy="228453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57912" cy="2284537"/>
            </a:xfrm>
            <a:custGeom>
              <a:avLst/>
              <a:gdLst/>
              <a:ahLst/>
              <a:cxnLst/>
              <a:rect r="r" b="b" t="t" l="l"/>
              <a:pathLst>
                <a:path h="2284537" w="1657912">
                  <a:moveTo>
                    <a:pt x="62724" y="0"/>
                  </a:moveTo>
                  <a:lnTo>
                    <a:pt x="1595188" y="0"/>
                  </a:lnTo>
                  <a:cubicBezTo>
                    <a:pt x="1611824" y="0"/>
                    <a:pt x="1627778" y="6608"/>
                    <a:pt x="1639541" y="18371"/>
                  </a:cubicBezTo>
                  <a:cubicBezTo>
                    <a:pt x="1651304" y="30134"/>
                    <a:pt x="1657912" y="46088"/>
                    <a:pt x="1657912" y="62724"/>
                  </a:cubicBezTo>
                  <a:lnTo>
                    <a:pt x="1657912" y="2221813"/>
                  </a:lnTo>
                  <a:cubicBezTo>
                    <a:pt x="1657912" y="2256454"/>
                    <a:pt x="1629830" y="2284537"/>
                    <a:pt x="1595188" y="2284537"/>
                  </a:cubicBezTo>
                  <a:lnTo>
                    <a:pt x="62724" y="2284537"/>
                  </a:lnTo>
                  <a:cubicBezTo>
                    <a:pt x="46088" y="2284537"/>
                    <a:pt x="30134" y="2277928"/>
                    <a:pt x="18371" y="2266165"/>
                  </a:cubicBezTo>
                  <a:cubicBezTo>
                    <a:pt x="6608" y="2254403"/>
                    <a:pt x="0" y="2238448"/>
                    <a:pt x="0" y="2221813"/>
                  </a:cubicBezTo>
                  <a:lnTo>
                    <a:pt x="0" y="62724"/>
                  </a:lnTo>
                  <a:cubicBezTo>
                    <a:pt x="0" y="46088"/>
                    <a:pt x="6608" y="30134"/>
                    <a:pt x="18371" y="18371"/>
                  </a:cubicBezTo>
                  <a:cubicBezTo>
                    <a:pt x="30134" y="6608"/>
                    <a:pt x="46088" y="0"/>
                    <a:pt x="62724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657912" cy="23321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862583" y="1606753"/>
            <a:ext cx="1868266" cy="1868266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862583" y="4210291"/>
            <a:ext cx="1868266" cy="1868266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862583" y="6811982"/>
            <a:ext cx="1868266" cy="1868266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Dezvoltari viitoare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10/12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20116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20116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22402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Extindere multilingva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28346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XLM-RoBERTa sau seturi de date dedicate, inclusiv pentru limba romana.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0116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0" y="20116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22402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Reantrenare periodica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8346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Pe modele noi (GPT-4o, Claude, Gemini) - combaterea 'concept drift'.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435840" y="20116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435840" y="20116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618720" y="22402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Robustete la evitare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0" y="28346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Testare sistematica impotriva parafrazarii si 'humanizarii' textului.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2120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52120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54406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Semnale comportamentale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60350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Integrarea metadatelor de retea (frecventa postare, profil cont).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52120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75120" y="52120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54406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Infrastructura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60350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Extensie de browser, API public REST, containerizare Docker.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435840" y="52120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435840" y="52120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618720" y="54406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Calibrare scor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18720" y="60350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Optimizarea automata a ponderilor scorului agregat de risc.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1908043" y="0"/>
            <a:ext cx="6379957" cy="10287000"/>
            <a:chOff x="0" y="0"/>
            <a:chExt cx="1680318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80318" cy="2709333"/>
            </a:xfrm>
            <a:custGeom>
              <a:avLst/>
              <a:gdLst/>
              <a:ahLst/>
              <a:cxnLst/>
              <a:rect r="r" b="b" t="t" l="l"/>
              <a:pathLst>
                <a:path h="2709333" w="1680318">
                  <a:moveTo>
                    <a:pt x="0" y="0"/>
                  </a:moveTo>
                  <a:lnTo>
                    <a:pt x="1680318" y="0"/>
                  </a:lnTo>
                  <a:lnTo>
                    <a:pt x="1680318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680318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640583" y="1606753"/>
            <a:ext cx="1868266" cy="1868266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640583" y="4210291"/>
            <a:ext cx="1868266" cy="1868266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640583" y="6811982"/>
            <a:ext cx="1868266" cy="1868266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-970541" y="2006345"/>
            <a:ext cx="1601933" cy="6466659"/>
            <a:chOff x="0" y="0"/>
            <a:chExt cx="421908" cy="170315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21908" cy="1703153"/>
            </a:xfrm>
            <a:custGeom>
              <a:avLst/>
              <a:gdLst/>
              <a:ahLst/>
              <a:cxnLst/>
              <a:rect r="r" b="b" t="t" l="l"/>
              <a:pathLst>
                <a:path h="1703153" w="421908">
                  <a:moveTo>
                    <a:pt x="210954" y="0"/>
                  </a:moveTo>
                  <a:lnTo>
                    <a:pt x="210954" y="0"/>
                  </a:lnTo>
                  <a:cubicBezTo>
                    <a:pt x="266903" y="0"/>
                    <a:pt x="320560" y="22225"/>
                    <a:pt x="360121" y="61787"/>
                  </a:cubicBezTo>
                  <a:cubicBezTo>
                    <a:pt x="399683" y="101349"/>
                    <a:pt x="421908" y="155006"/>
                    <a:pt x="421908" y="210954"/>
                  </a:cubicBezTo>
                  <a:lnTo>
                    <a:pt x="421908" y="1492199"/>
                  </a:lnTo>
                  <a:cubicBezTo>
                    <a:pt x="421908" y="1548147"/>
                    <a:pt x="399683" y="1601804"/>
                    <a:pt x="360121" y="1641366"/>
                  </a:cubicBezTo>
                  <a:cubicBezTo>
                    <a:pt x="320560" y="1680928"/>
                    <a:pt x="266903" y="1703153"/>
                    <a:pt x="210954" y="1703153"/>
                  </a:cubicBezTo>
                  <a:lnTo>
                    <a:pt x="210954" y="1703153"/>
                  </a:lnTo>
                  <a:cubicBezTo>
                    <a:pt x="155006" y="1703153"/>
                    <a:pt x="101349" y="1680928"/>
                    <a:pt x="61787" y="1641366"/>
                  </a:cubicBezTo>
                  <a:cubicBezTo>
                    <a:pt x="22225" y="1601804"/>
                    <a:pt x="0" y="1548147"/>
                    <a:pt x="0" y="1492199"/>
                  </a:cubicBezTo>
                  <a:lnTo>
                    <a:pt x="0" y="210954"/>
                  </a:lnTo>
                  <a:cubicBezTo>
                    <a:pt x="0" y="155006"/>
                    <a:pt x="22225" y="101349"/>
                    <a:pt x="61787" y="61787"/>
                  </a:cubicBezTo>
                  <a:cubicBezTo>
                    <a:pt x="101349" y="22225"/>
                    <a:pt x="155006" y="0"/>
                    <a:pt x="210954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421908" cy="17507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914400" y="365760"/>
            <a:ext cx="16459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Bibliografie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1234440"/>
            <a:ext cx="45720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11/12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6304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[1] Barbieri, F., Camacho-Collados, J., Espinosa-Anke, L., &amp; Neves, L. (2020). TweetEval. arXiv:2010.12421.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51460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[2] Brown, T., Mann, B., Ryder, N., Subbiah, M., Kaplan, J., Dhariwal, P., et al. (2020). GPT-3. arXiv:2005.14165.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56616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[3] Chakraborty, S., Bedi, A.S., Zhu, S., An, B., Manocha, D., &amp; Huang, F. (2023). arXiv:2304.04736.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61772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[4] Dugan, L., Hwang, A., Trhlik, F., Zhu, Z., Ippolito, D., &amp; Callison-Burch, C. (2024). RAID. arXiv:2405.07940.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66928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[5] Gehrmann, S., Strobelt, H., &amp; Rush, A.M. (2019). GLTR. arXiv:1906.04043.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72084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[6] Gillespie, N., Lockey, S., Curtis, C., Pool, J., &amp; Akbari, A. (2025). KPMG &amp; Univ. Melbourne.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777240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[7] Guo, W., Shen, W., Lei, J., Chow, K., &amp; Shi, E. (2023). HC3. arXiv:2301.07597.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882396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[8] Kirchenbauer, J., Geiping, J., Wen, Y., Katz, J., Miers, I., &amp; Goldstein, T. (2023). arXiv:2301.10226.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146304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[9] Krishna, K., Song, Y., Karpinska, M., Wieting, J., &amp; Iyyer, M. (2023). arXiv:2303.13408.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51460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[10] Liu, Y., Ott, M., Goyal, N., Du, J., Joshi, M., Chen, D., et al. (2019). RoBERTa. arXiv:1907.11692.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56616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[11] Mitchell, E., Lee, Y., Khazatsky, A., Manning, C.D., &amp; Finn, C. (2023). DetectGPT. arXiv:2301.11305.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461772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[12] NewsGuard (2023). The Year AI Supercharged Misinformation.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566928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[13] Sadasivan, V.S., Kumar, A., Balasubramanian, S., Wang, W., &amp; Feizi, S. (2023). arXiv:2303.11156.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72084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[14] Tian, E. (2023). GPTZero. gptzero.me.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7772400"/>
            <a:ext cx="8229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303642"/>
                </a:solidFill>
                <a:latin typeface="Calibri"/>
              </a:rPr>
              <a:t>[15] Vaswani, A., Shazeer, N., Parmar, N., Uszkoreit, J., Jones, L., Gomez, A.N., et al. (2017). Transformer. arXiv:1706.03762.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-698500" y="3124200"/>
            <a:ext cx="5245100" cy="1332778"/>
            <a:chOff x="0" y="0"/>
            <a:chExt cx="1381426" cy="3510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81426" cy="351020"/>
            </a:xfrm>
            <a:custGeom>
              <a:avLst/>
              <a:gdLst/>
              <a:ahLst/>
              <a:cxnLst/>
              <a:rect r="r" b="b" t="t" l="l"/>
              <a:pathLst>
                <a:path h="351020" w="1381426">
                  <a:moveTo>
                    <a:pt x="75277" y="0"/>
                  </a:moveTo>
                  <a:lnTo>
                    <a:pt x="1306148" y="0"/>
                  </a:lnTo>
                  <a:cubicBezTo>
                    <a:pt x="1326113" y="0"/>
                    <a:pt x="1345260" y="7931"/>
                    <a:pt x="1359377" y="22048"/>
                  </a:cubicBezTo>
                  <a:cubicBezTo>
                    <a:pt x="1373495" y="36166"/>
                    <a:pt x="1381426" y="55313"/>
                    <a:pt x="1381426" y="75277"/>
                  </a:cubicBezTo>
                  <a:lnTo>
                    <a:pt x="1381426" y="275742"/>
                  </a:lnTo>
                  <a:cubicBezTo>
                    <a:pt x="1381426" y="295707"/>
                    <a:pt x="1373495" y="314854"/>
                    <a:pt x="1359377" y="328971"/>
                  </a:cubicBezTo>
                  <a:cubicBezTo>
                    <a:pt x="1345260" y="343089"/>
                    <a:pt x="1326113" y="351020"/>
                    <a:pt x="1306148" y="351020"/>
                  </a:cubicBezTo>
                  <a:lnTo>
                    <a:pt x="75277" y="351020"/>
                  </a:lnTo>
                  <a:cubicBezTo>
                    <a:pt x="55313" y="351020"/>
                    <a:pt x="36166" y="343089"/>
                    <a:pt x="22048" y="328971"/>
                  </a:cubicBezTo>
                  <a:cubicBezTo>
                    <a:pt x="7931" y="314854"/>
                    <a:pt x="0" y="295707"/>
                    <a:pt x="0" y="275742"/>
                  </a:cubicBezTo>
                  <a:lnTo>
                    <a:pt x="0" y="75277"/>
                  </a:lnTo>
                  <a:cubicBezTo>
                    <a:pt x="0" y="55313"/>
                    <a:pt x="7931" y="36166"/>
                    <a:pt x="22048" y="22048"/>
                  </a:cubicBezTo>
                  <a:cubicBezTo>
                    <a:pt x="36166" y="7931"/>
                    <a:pt x="55313" y="0"/>
                    <a:pt x="75277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381426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741400" y="3124200"/>
            <a:ext cx="5118100" cy="1332778"/>
            <a:chOff x="0" y="0"/>
            <a:chExt cx="1347977" cy="3510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47977" cy="351020"/>
            </a:xfrm>
            <a:custGeom>
              <a:avLst/>
              <a:gdLst/>
              <a:ahLst/>
              <a:cxnLst/>
              <a:rect r="r" b="b" t="t" l="l"/>
              <a:pathLst>
                <a:path h="351020" w="1347977">
                  <a:moveTo>
                    <a:pt x="77145" y="0"/>
                  </a:moveTo>
                  <a:lnTo>
                    <a:pt x="1270832" y="0"/>
                  </a:lnTo>
                  <a:cubicBezTo>
                    <a:pt x="1291292" y="0"/>
                    <a:pt x="1310914" y="8128"/>
                    <a:pt x="1325382" y="22595"/>
                  </a:cubicBezTo>
                  <a:cubicBezTo>
                    <a:pt x="1339849" y="37063"/>
                    <a:pt x="1347977" y="56685"/>
                    <a:pt x="1347977" y="77145"/>
                  </a:cubicBezTo>
                  <a:lnTo>
                    <a:pt x="1347977" y="273874"/>
                  </a:lnTo>
                  <a:cubicBezTo>
                    <a:pt x="1347977" y="316480"/>
                    <a:pt x="1313438" y="351020"/>
                    <a:pt x="1270832" y="351020"/>
                  </a:cubicBezTo>
                  <a:lnTo>
                    <a:pt x="77145" y="351020"/>
                  </a:lnTo>
                  <a:cubicBezTo>
                    <a:pt x="34539" y="351020"/>
                    <a:pt x="0" y="316480"/>
                    <a:pt x="0" y="273874"/>
                  </a:cubicBezTo>
                  <a:lnTo>
                    <a:pt x="0" y="77145"/>
                  </a:lnTo>
                  <a:cubicBezTo>
                    <a:pt x="0" y="34539"/>
                    <a:pt x="34539" y="0"/>
                    <a:pt x="77145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347977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616825" y="6705600"/>
            <a:ext cx="3054350" cy="761278"/>
            <a:chOff x="0" y="0"/>
            <a:chExt cx="804438" cy="20050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04438" cy="200501"/>
            </a:xfrm>
            <a:custGeom>
              <a:avLst/>
              <a:gdLst/>
              <a:ahLst/>
              <a:cxnLst/>
              <a:rect r="r" b="b" t="t" l="l"/>
              <a:pathLst>
                <a:path h="200501" w="804438">
                  <a:moveTo>
                    <a:pt x="100251" y="0"/>
                  </a:moveTo>
                  <a:lnTo>
                    <a:pt x="704187" y="0"/>
                  </a:lnTo>
                  <a:cubicBezTo>
                    <a:pt x="730775" y="0"/>
                    <a:pt x="756275" y="10562"/>
                    <a:pt x="775075" y="29363"/>
                  </a:cubicBezTo>
                  <a:cubicBezTo>
                    <a:pt x="793876" y="48163"/>
                    <a:pt x="804438" y="73662"/>
                    <a:pt x="804438" y="100251"/>
                  </a:cubicBezTo>
                  <a:lnTo>
                    <a:pt x="804438" y="100251"/>
                  </a:lnTo>
                  <a:cubicBezTo>
                    <a:pt x="804438" y="155617"/>
                    <a:pt x="759554" y="200501"/>
                    <a:pt x="704187" y="200501"/>
                  </a:cubicBezTo>
                  <a:lnTo>
                    <a:pt x="100251" y="200501"/>
                  </a:lnTo>
                  <a:cubicBezTo>
                    <a:pt x="44884" y="200501"/>
                    <a:pt x="0" y="155617"/>
                    <a:pt x="0" y="100251"/>
                  </a:cubicBezTo>
                  <a:lnTo>
                    <a:pt x="0" y="100251"/>
                  </a:lnTo>
                  <a:cubicBezTo>
                    <a:pt x="0" y="44884"/>
                    <a:pt x="44884" y="0"/>
                    <a:pt x="100251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804438" cy="2481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914400" y="3497580"/>
            <a:ext cx="1645920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200" b="1" i="0">
                <a:solidFill>
                  <a:srgbClr val="004AAD"/>
                </a:solidFill>
                <a:latin typeface="Calibri"/>
              </a:rPr>
              <a:t>Va multumesc pentru atentie!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60620"/>
            <a:ext cx="1645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0" i="0">
                <a:solidFill>
                  <a:srgbClr val="303642"/>
                </a:solidFill>
                <a:latin typeface="Calibri"/>
              </a:rPr>
              <a:t>Detectarea mesajelor generate de AI pe retelele sociale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875020"/>
            <a:ext cx="16459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 i="0">
                <a:solidFill>
                  <a:srgbClr val="606060"/>
                </a:solidFill>
                <a:latin typeface="Calibri"/>
              </a:rPr>
              <a:t>Bianca-Stefania GHEORGHE · Facultatea Automatica si Calculatoare · UPB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